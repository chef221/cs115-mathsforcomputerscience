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9" r:id="rId4"/>
    <p:sldId id="314" r:id="rId5"/>
    <p:sldId id="315" r:id="rId6"/>
    <p:sldId id="260" r:id="rId7"/>
    <p:sldId id="316" r:id="rId8"/>
    <p:sldId id="317" r:id="rId9"/>
    <p:sldId id="318" r:id="rId10"/>
    <p:sldId id="290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50" r:id="rId22"/>
    <p:sldId id="330" r:id="rId23"/>
    <p:sldId id="331" r:id="rId24"/>
    <p:sldId id="332" r:id="rId25"/>
    <p:sldId id="333" r:id="rId26"/>
    <p:sldId id="335" r:id="rId27"/>
    <p:sldId id="336" r:id="rId28"/>
    <p:sldId id="329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jjYI8QqtrztLJzOwI7ywtbQbSG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FF00FF"/>
    <a:srgbClr val="070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8767" autoAdjust="0"/>
  </p:normalViewPr>
  <p:slideViewPr>
    <p:cSldViewPr snapToGrid="0">
      <p:cViewPr varScale="1">
        <p:scale>
          <a:sx n="77" d="100"/>
          <a:sy n="77" d="100"/>
        </p:scale>
        <p:origin x="191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6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AFB502EB-EE17-00CC-0534-A017AE09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FDEA4EED-E994-31F1-E757-2E27E362C4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121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5390616-F919-ED32-154C-048C4398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97FD5C38-FE3D-8A08-70F7-31070695252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97FD5C38-FE3D-8A08-70F7-31070695252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200" dirty="0"/>
                  <a:t>Ta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 ̂</a:t>
                </a:r>
                <a:r>
                  <a:rPr lang="en-US" sz="1200" b="0" i="0">
                    <a:latin typeface="Cambria Math" panose="02040503050406030204" pitchFamily="18" charset="0"/>
                  </a:rPr>
                  <a:t>=2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ước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en-US" sz="1200" dirty="0">
                    <a:solidFill>
                      <a:srgbClr val="FF0000"/>
                    </a:solidFill>
                  </a:rPr>
                  <a:t> (estimate) </a:t>
                </a:r>
                <a:r>
                  <a:rPr lang="en-US" sz="1200" dirty="0" err="1"/>
                  <a:t>về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i="0" dirty="0" err="1"/>
                  <a:t>Tức</a:t>
                </a:r>
                <a:r>
                  <a:rPr lang="en-US" i="0" dirty="0"/>
                  <a:t> </a:t>
                </a:r>
                <a:r>
                  <a:rPr lang="en-US" i="0" dirty="0" err="1"/>
                  <a:t>là</a:t>
                </a:r>
                <a:r>
                  <a:rPr lang="en-US" i="0" dirty="0"/>
                  <a:t> ta </a:t>
                </a:r>
                <a:r>
                  <a:rPr lang="en-US" i="0" dirty="0" err="1"/>
                  <a:t>ước</a:t>
                </a:r>
                <a:r>
                  <a:rPr lang="en-US" i="0" dirty="0"/>
                  <a:t> </a:t>
                </a:r>
                <a:r>
                  <a:rPr lang="en-US" i="0" dirty="0" err="1"/>
                  <a:t>lượng</a:t>
                </a:r>
                <a:r>
                  <a:rPr lang="en-US" i="0" dirty="0"/>
                  <a:t> </a:t>
                </a:r>
                <a:r>
                  <a:rPr lang="en-US" i="0" dirty="0" err="1"/>
                  <a:t>số</a:t>
                </a:r>
                <a:r>
                  <a:rPr lang="en-US" i="0" dirty="0"/>
                  <a:t> bi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trong</a:t>
                </a:r>
                <a:r>
                  <a:rPr lang="en-US" i="0" dirty="0"/>
                  <a:t> </a:t>
                </a:r>
                <a:r>
                  <a:rPr lang="en-US" i="0" dirty="0" err="1"/>
                  <a:t>túi</a:t>
                </a:r>
                <a:r>
                  <a:rPr lang="en-US" i="0" dirty="0"/>
                  <a:t> </a:t>
                </a:r>
                <a:r>
                  <a:rPr lang="en-US" i="0" dirty="0" err="1"/>
                  <a:t>là</a:t>
                </a:r>
                <a:r>
                  <a:rPr lang="en-US" i="0" dirty="0"/>
                  <a:t> 2. </a:t>
                </a:r>
                <a:r>
                  <a:rPr lang="en-US" i="0" dirty="0" err="1"/>
                  <a:t>Lưu</a:t>
                </a:r>
                <a:r>
                  <a:rPr lang="en-US" i="0" dirty="0"/>
                  <a:t> ý: </a:t>
                </a:r>
                <a:r>
                  <a:rPr lang="en-US" i="0" dirty="0" err="1"/>
                  <a:t>thực</a:t>
                </a:r>
                <a:r>
                  <a:rPr lang="en-US" i="0" dirty="0"/>
                  <a:t> </a:t>
                </a:r>
                <a:r>
                  <a:rPr lang="en-US" i="0" dirty="0" err="1"/>
                  <a:t>sự</a:t>
                </a:r>
                <a:r>
                  <a:rPr lang="en-US" i="0" dirty="0"/>
                  <a:t> </a:t>
                </a:r>
                <a:r>
                  <a:rPr lang="en-US" i="0" dirty="0" err="1"/>
                  <a:t>trong</a:t>
                </a:r>
                <a:r>
                  <a:rPr lang="en-US" i="0" dirty="0"/>
                  <a:t> </a:t>
                </a:r>
                <a:r>
                  <a:rPr lang="en-US" i="0" dirty="0" err="1"/>
                  <a:t>túi</a:t>
                </a:r>
                <a:r>
                  <a:rPr lang="en-US" i="0" dirty="0"/>
                  <a:t> </a:t>
                </a:r>
                <a:r>
                  <a:rPr lang="en-US" i="0" dirty="0" err="1"/>
                  <a:t>có</a:t>
                </a:r>
                <a:r>
                  <a:rPr lang="en-US" i="0" dirty="0"/>
                  <a:t> bao </a:t>
                </a:r>
                <a:r>
                  <a:rPr lang="en-US" i="0" dirty="0" err="1"/>
                  <a:t>nhiêu</a:t>
                </a:r>
                <a:r>
                  <a:rPr lang="en-US" i="0" dirty="0"/>
                  <a:t> bi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thì</a:t>
                </a:r>
                <a:r>
                  <a:rPr lang="en-US" i="0" dirty="0"/>
                  <a:t> ta </a:t>
                </a:r>
                <a:r>
                  <a:rPr lang="en-US" i="0" dirty="0" err="1"/>
                  <a:t>không</a:t>
                </a:r>
                <a:r>
                  <a:rPr lang="en-US" i="0" dirty="0"/>
                  <a:t> </a:t>
                </a:r>
                <a:r>
                  <a:rPr lang="en-US" i="0" dirty="0" err="1"/>
                  <a:t>biết</a:t>
                </a:r>
                <a:r>
                  <a:rPr lang="en-US" i="0" dirty="0"/>
                  <a:t> </a:t>
                </a:r>
                <a:r>
                  <a:rPr lang="en-US" i="0" dirty="0" err="1"/>
                  <a:t>được</a:t>
                </a:r>
                <a:r>
                  <a:rPr lang="en-US" i="0" dirty="0"/>
                  <a:t> </a:t>
                </a:r>
                <a:r>
                  <a:rPr lang="en-US" i="0" dirty="0" err="1"/>
                  <a:t>chính</a:t>
                </a:r>
                <a:r>
                  <a:rPr lang="en-US" i="0" dirty="0"/>
                  <a:t> </a:t>
                </a:r>
                <a:r>
                  <a:rPr lang="en-US" i="0" dirty="0" err="1"/>
                  <a:t>xác</a:t>
                </a:r>
                <a:r>
                  <a:rPr lang="en-US" i="0" dirty="0"/>
                  <a:t>. Cho </a:t>
                </a:r>
                <a:r>
                  <a:rPr lang="en-US" i="0" dirty="0" err="1"/>
                  <a:t>dù</a:t>
                </a:r>
                <a:r>
                  <a:rPr lang="en-US" i="0" dirty="0"/>
                  <a:t> </a:t>
                </a:r>
                <a:r>
                  <a:rPr lang="en-US" i="0" dirty="0" err="1"/>
                  <a:t>trong</a:t>
                </a:r>
                <a:r>
                  <a:rPr lang="en-US" i="0" dirty="0"/>
                  <a:t> </a:t>
                </a:r>
                <a:r>
                  <a:rPr lang="en-US" i="0" dirty="0" err="1"/>
                  <a:t>túi</a:t>
                </a:r>
                <a:r>
                  <a:rPr lang="en-US" i="0" dirty="0"/>
                  <a:t> </a:t>
                </a:r>
                <a:r>
                  <a:rPr lang="en-US" i="0" dirty="0" err="1"/>
                  <a:t>có</a:t>
                </a:r>
                <a:r>
                  <a:rPr lang="en-US" i="0" dirty="0"/>
                  <a:t> 1 bi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thì</a:t>
                </a:r>
                <a:r>
                  <a:rPr lang="en-US" i="0" dirty="0"/>
                  <a:t> </a:t>
                </a:r>
                <a:r>
                  <a:rPr lang="en-US" i="0" dirty="0" err="1"/>
                  <a:t>vẫn</a:t>
                </a:r>
                <a:r>
                  <a:rPr lang="en-US" i="0" dirty="0"/>
                  <a:t> </a:t>
                </a:r>
                <a:r>
                  <a:rPr lang="en-US" i="0" dirty="0" err="1"/>
                  <a:t>có</a:t>
                </a:r>
                <a:r>
                  <a:rPr lang="en-US" i="0" dirty="0"/>
                  <a:t> </a:t>
                </a:r>
                <a:r>
                  <a:rPr lang="en-US" i="0" dirty="0" err="1"/>
                  <a:t>thể</a:t>
                </a:r>
                <a:r>
                  <a:rPr lang="en-US" i="0" dirty="0"/>
                  <a:t> </a:t>
                </a:r>
                <a:r>
                  <a:rPr lang="en-US" i="0" dirty="0" err="1"/>
                  <a:t>xảy</a:t>
                </a:r>
                <a:r>
                  <a:rPr lang="en-US" i="0" dirty="0"/>
                  <a:t> </a:t>
                </a:r>
                <a:r>
                  <a:rPr lang="en-US" i="0" dirty="0" err="1"/>
                  <a:t>ra</a:t>
                </a:r>
                <a:r>
                  <a:rPr lang="en-US" i="0" dirty="0"/>
                  <a:t> </a:t>
                </a:r>
                <a:r>
                  <a:rPr lang="en-US" i="0" dirty="0" err="1"/>
                  <a:t>kết</a:t>
                </a:r>
                <a:r>
                  <a:rPr lang="en-US" i="0" dirty="0"/>
                  <a:t> </a:t>
                </a:r>
                <a:r>
                  <a:rPr lang="en-US" i="0" dirty="0" err="1"/>
                  <a:t>quả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đỏ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. Trong </a:t>
                </a:r>
                <a:r>
                  <a:rPr lang="en-US" i="0" dirty="0" err="1"/>
                  <a:t>túi</a:t>
                </a:r>
                <a:r>
                  <a:rPr lang="en-US" i="0" dirty="0"/>
                  <a:t> </a:t>
                </a:r>
                <a:r>
                  <a:rPr lang="en-US" i="0" dirty="0" err="1"/>
                  <a:t>có</a:t>
                </a:r>
                <a:r>
                  <a:rPr lang="en-US" i="0" dirty="0"/>
                  <a:t> 2 bi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thì</a:t>
                </a:r>
                <a:r>
                  <a:rPr lang="en-US" i="0" dirty="0"/>
                  <a:t> </a:t>
                </a:r>
                <a:r>
                  <a:rPr lang="en-US" i="0" dirty="0" err="1"/>
                  <a:t>vẫn</a:t>
                </a:r>
                <a:r>
                  <a:rPr lang="en-US" i="0" dirty="0"/>
                  <a:t> </a:t>
                </a:r>
                <a:r>
                  <a:rPr lang="en-US" i="0" dirty="0" err="1"/>
                  <a:t>có</a:t>
                </a:r>
                <a:r>
                  <a:rPr lang="en-US" i="0" dirty="0"/>
                  <a:t> </a:t>
                </a:r>
                <a:r>
                  <a:rPr lang="en-US" i="0" dirty="0" err="1"/>
                  <a:t>thể</a:t>
                </a:r>
                <a:r>
                  <a:rPr lang="en-US" i="0" dirty="0"/>
                  <a:t> </a:t>
                </a:r>
                <a:r>
                  <a:rPr lang="en-US" i="0" dirty="0" err="1"/>
                  <a:t>xảy</a:t>
                </a:r>
                <a:r>
                  <a:rPr lang="en-US" i="0" dirty="0"/>
                  <a:t> </a:t>
                </a:r>
                <a:r>
                  <a:rPr lang="en-US" i="0" dirty="0" err="1"/>
                  <a:t>ra</a:t>
                </a:r>
                <a:r>
                  <a:rPr lang="en-US" i="0" dirty="0"/>
                  <a:t> </a:t>
                </a:r>
                <a:r>
                  <a:rPr lang="en-US" i="0" dirty="0" err="1"/>
                  <a:t>kết</a:t>
                </a:r>
                <a:r>
                  <a:rPr lang="en-US" i="0" dirty="0"/>
                  <a:t> </a:t>
                </a:r>
                <a:r>
                  <a:rPr lang="en-US" i="0" dirty="0" err="1"/>
                  <a:t>quả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đỏ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. </a:t>
                </a:r>
                <a:r>
                  <a:rPr lang="en-US" i="0" dirty="0" err="1"/>
                  <a:t>Tuy</a:t>
                </a:r>
                <a:r>
                  <a:rPr lang="en-US" i="0" dirty="0"/>
                  <a:t> </a:t>
                </a:r>
                <a:r>
                  <a:rPr lang="en-US" i="0" dirty="0" err="1"/>
                  <a:t>nhiên</a:t>
                </a:r>
                <a:r>
                  <a:rPr lang="en-US" i="0" dirty="0"/>
                  <a:t> </a:t>
                </a:r>
                <a:r>
                  <a:rPr lang="en-US" i="0" dirty="0" err="1"/>
                  <a:t>nếu</a:t>
                </a:r>
                <a:r>
                  <a:rPr lang="en-US" i="0" dirty="0"/>
                  <a:t> </a:t>
                </a:r>
                <a:r>
                  <a:rPr lang="en-US" i="0" dirty="0" err="1"/>
                  <a:t>trong</a:t>
                </a:r>
                <a:r>
                  <a:rPr lang="en-US" i="0" dirty="0"/>
                  <a:t> </a:t>
                </a:r>
                <a:r>
                  <a:rPr lang="en-US" i="0" dirty="0" err="1"/>
                  <a:t>túi</a:t>
                </a:r>
                <a:r>
                  <a:rPr lang="en-US" i="0" dirty="0"/>
                  <a:t> </a:t>
                </a:r>
                <a:r>
                  <a:rPr lang="en-US" i="0" dirty="0" err="1"/>
                  <a:t>có</a:t>
                </a:r>
                <a:r>
                  <a:rPr lang="en-US" i="0" dirty="0"/>
                  <a:t> 2 bi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thì</a:t>
                </a:r>
                <a:r>
                  <a:rPr lang="en-US" i="0" dirty="0"/>
                  <a:t> </a:t>
                </a:r>
                <a:r>
                  <a:rPr lang="en-US" i="0" dirty="0" err="1"/>
                  <a:t>khả</a:t>
                </a:r>
                <a:r>
                  <a:rPr lang="en-US" i="0" dirty="0"/>
                  <a:t> </a:t>
                </a:r>
                <a:r>
                  <a:rPr lang="en-US" i="0" dirty="0" err="1"/>
                  <a:t>năng</a:t>
                </a:r>
                <a:r>
                  <a:rPr lang="en-US" i="0" dirty="0"/>
                  <a:t> </a:t>
                </a:r>
                <a:r>
                  <a:rPr lang="en-US" i="0" dirty="0" err="1"/>
                  <a:t>mà</a:t>
                </a:r>
                <a:r>
                  <a:rPr lang="en-US" i="0" dirty="0"/>
                  <a:t> ta </a:t>
                </a:r>
                <a:r>
                  <a:rPr lang="en-US" i="0" dirty="0" err="1"/>
                  <a:t>quan</a:t>
                </a:r>
                <a:r>
                  <a:rPr lang="en-US" i="0" dirty="0"/>
                  <a:t> </a:t>
                </a:r>
                <a:r>
                  <a:rPr lang="en-US" i="0" dirty="0" err="1"/>
                  <a:t>sát</a:t>
                </a:r>
                <a:r>
                  <a:rPr lang="en-US" i="0" dirty="0"/>
                  <a:t> </a:t>
                </a:r>
                <a:r>
                  <a:rPr lang="en-US" i="0" dirty="0" err="1"/>
                  <a:t>được</a:t>
                </a:r>
                <a:r>
                  <a:rPr lang="en-US" i="0" dirty="0"/>
                  <a:t> </a:t>
                </a:r>
                <a:r>
                  <a:rPr lang="en-US" i="0" dirty="0" err="1"/>
                  <a:t>kết</a:t>
                </a:r>
                <a:r>
                  <a:rPr lang="en-US" i="0" dirty="0"/>
                  <a:t> </a:t>
                </a:r>
                <a:r>
                  <a:rPr lang="en-US" i="0" dirty="0" err="1"/>
                  <a:t>quả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đỏ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xanh</a:t>
                </a:r>
                <a:r>
                  <a:rPr lang="en-US" i="0" dirty="0"/>
                  <a:t> </a:t>
                </a:r>
                <a:r>
                  <a:rPr lang="en-US" i="0" dirty="0" err="1"/>
                  <a:t>này</a:t>
                </a:r>
                <a:r>
                  <a:rPr lang="en-US" i="0" dirty="0"/>
                  <a:t> </a:t>
                </a:r>
                <a:r>
                  <a:rPr lang="en-US" i="0" dirty="0" err="1"/>
                  <a:t>là</a:t>
                </a:r>
                <a:r>
                  <a:rPr lang="en-US" i="0" dirty="0"/>
                  <a:t> </a:t>
                </a:r>
                <a:r>
                  <a:rPr lang="en-US" i="0" dirty="0" err="1"/>
                  <a:t>lớn</a:t>
                </a:r>
                <a:r>
                  <a:rPr lang="en-US" i="0" dirty="0"/>
                  <a:t> </a:t>
                </a:r>
                <a:r>
                  <a:rPr lang="en-US" i="0" dirty="0" err="1"/>
                  <a:t>nhất</a:t>
                </a:r>
                <a:r>
                  <a:rPr lang="en-US" i="0" dirty="0"/>
                  <a:t>. Do </a:t>
                </a:r>
                <a:r>
                  <a:rPr lang="en-US" i="0" dirty="0" err="1"/>
                  <a:t>đó</a:t>
                </a:r>
                <a:r>
                  <a:rPr lang="en-US" i="0" dirty="0"/>
                  <a:t>, ta </a:t>
                </a:r>
                <a:r>
                  <a:rPr lang="en-US" i="0" dirty="0" err="1"/>
                  <a:t>nói</a:t>
                </a:r>
                <a:r>
                  <a:rPr lang="en-US" i="0" dirty="0"/>
                  <a:t> </a:t>
                </a:r>
                <a:r>
                  <a:rPr lang="en-US" i="0" dirty="0" err="1"/>
                  <a:t>số</a:t>
                </a:r>
                <a:r>
                  <a:rPr lang="en-US" i="0" dirty="0"/>
                  <a:t> bi </a:t>
                </a:r>
                <a:r>
                  <a:rPr lang="en-US" i="0" dirty="0" err="1"/>
                  <a:t>xanh</a:t>
                </a:r>
                <a:r>
                  <a:rPr lang="en-US" i="0" dirty="0"/>
                  <a:t> = 2 </a:t>
                </a:r>
                <a:r>
                  <a:rPr lang="en-US" i="0" dirty="0" err="1"/>
                  <a:t>là</a:t>
                </a:r>
                <a:r>
                  <a:rPr lang="en-US" i="0" dirty="0"/>
                  <a:t> </a:t>
                </a:r>
                <a:r>
                  <a:rPr lang="en-US" i="0" dirty="0" err="1"/>
                  <a:t>ước</a:t>
                </a:r>
                <a:r>
                  <a:rPr lang="en-US" i="0" dirty="0"/>
                  <a:t> </a:t>
                </a:r>
                <a:r>
                  <a:rPr lang="en-US" i="0" dirty="0" err="1"/>
                  <a:t>lượng</a:t>
                </a:r>
                <a:r>
                  <a:rPr lang="en-US" i="0" dirty="0"/>
                  <a:t> </a:t>
                </a:r>
                <a:r>
                  <a:rPr lang="en-US" i="0" dirty="0" err="1"/>
                  <a:t>hợp</a:t>
                </a:r>
                <a:r>
                  <a:rPr lang="en-US" i="0" dirty="0"/>
                  <a:t> </a:t>
                </a:r>
                <a:r>
                  <a:rPr lang="en-US" i="0" dirty="0" err="1"/>
                  <a:t>lý</a:t>
                </a:r>
                <a:r>
                  <a:rPr lang="en-US" i="0" dirty="0"/>
                  <a:t> </a:t>
                </a:r>
                <a:r>
                  <a:rPr lang="en-US" i="0" dirty="0" err="1"/>
                  <a:t>nhất</a:t>
                </a:r>
                <a:r>
                  <a:rPr lang="en-US" i="0" dirty="0"/>
                  <a:t> </a:t>
                </a:r>
                <a:r>
                  <a:rPr lang="en-US" i="0" dirty="0" err="1"/>
                  <a:t>với</a:t>
                </a:r>
                <a:r>
                  <a:rPr lang="en-US" i="0" dirty="0"/>
                  <a:t> </a:t>
                </a:r>
                <a:r>
                  <a:rPr lang="en-US" i="0" dirty="0" err="1"/>
                  <a:t>dữ</a:t>
                </a:r>
                <a:r>
                  <a:rPr lang="en-US" i="0" dirty="0"/>
                  <a:t> </a:t>
                </a:r>
                <a:r>
                  <a:rPr lang="en-US" i="0" dirty="0" err="1"/>
                  <a:t>liệu</a:t>
                </a:r>
                <a:r>
                  <a:rPr lang="en-US" i="0" dirty="0"/>
                  <a:t> </a:t>
                </a:r>
                <a:r>
                  <a:rPr lang="en-US" i="0" dirty="0" err="1"/>
                  <a:t>mà</a:t>
                </a:r>
                <a:r>
                  <a:rPr lang="en-US" i="0" dirty="0"/>
                  <a:t> ta </a:t>
                </a:r>
                <a:r>
                  <a:rPr lang="en-US" i="0" dirty="0" err="1"/>
                  <a:t>có</a:t>
                </a:r>
                <a:r>
                  <a:rPr lang="en-US" i="0" dirty="0"/>
                  <a:t>. </a:t>
                </a:r>
                <a:r>
                  <a:rPr lang="en-US" i="0" dirty="0" err="1"/>
                  <a:t>Đây</a:t>
                </a:r>
                <a:r>
                  <a:rPr lang="en-US" i="0" dirty="0"/>
                  <a:t> </a:t>
                </a:r>
                <a:r>
                  <a:rPr lang="en-US" i="0" dirty="0" err="1"/>
                  <a:t>là</a:t>
                </a:r>
                <a:r>
                  <a:rPr lang="en-US" i="0" dirty="0"/>
                  <a:t> </a:t>
                </a:r>
                <a:r>
                  <a:rPr lang="en-US" i="0" dirty="0" err="1"/>
                  <a:t>ước</a:t>
                </a:r>
                <a:r>
                  <a:rPr lang="en-US" i="0" dirty="0"/>
                  <a:t> </a:t>
                </a:r>
                <a:r>
                  <a:rPr lang="en-US" i="0" dirty="0" err="1"/>
                  <a:t>lượng</a:t>
                </a:r>
                <a:r>
                  <a:rPr lang="en-US" i="0" dirty="0"/>
                  <a:t> </a:t>
                </a:r>
                <a:r>
                  <a:rPr lang="en-US" i="0" dirty="0" err="1"/>
                  <a:t>hợp</a:t>
                </a:r>
                <a:r>
                  <a:rPr lang="en-US" i="0" dirty="0"/>
                  <a:t> </a:t>
                </a:r>
                <a:r>
                  <a:rPr lang="en-US" i="0" dirty="0" err="1"/>
                  <a:t>lý</a:t>
                </a:r>
                <a:r>
                  <a:rPr lang="en-US" i="0" dirty="0"/>
                  <a:t> </a:t>
                </a:r>
                <a:r>
                  <a:rPr lang="en-US" i="0" dirty="0" err="1"/>
                  <a:t>cực</a:t>
                </a:r>
                <a:r>
                  <a:rPr lang="en-US" i="0" dirty="0"/>
                  <a:t> </a:t>
                </a:r>
                <a:r>
                  <a:rPr lang="en-US" i="0" dirty="0" err="1"/>
                  <a:t>đại</a:t>
                </a:r>
                <a:r>
                  <a:rPr lang="en-US" i="0" dirty="0"/>
                  <a:t>, </a:t>
                </a:r>
                <a:r>
                  <a:rPr lang="en-US" i="0" dirty="0" err="1"/>
                  <a:t>giá</a:t>
                </a:r>
                <a:r>
                  <a:rPr lang="en-US" i="0" dirty="0"/>
                  <a:t> </a:t>
                </a:r>
                <a:r>
                  <a:rPr lang="en-US" i="0" dirty="0" err="1"/>
                  <a:t>trị</a:t>
                </a:r>
                <a:r>
                  <a:rPr lang="en-US" i="0" dirty="0"/>
                  <a:t> </a:t>
                </a:r>
                <a:r>
                  <a:rPr lang="en-US" i="0" dirty="0" err="1"/>
                  <a:t>tham</a:t>
                </a:r>
                <a:r>
                  <a:rPr lang="en-US" i="0" dirty="0"/>
                  <a:t> </a:t>
                </a:r>
                <a:r>
                  <a:rPr lang="en-US" i="0" dirty="0" err="1"/>
                  <a:t>số</a:t>
                </a:r>
                <a:r>
                  <a:rPr lang="en-US" i="0" dirty="0"/>
                  <a:t> theta  </a:t>
                </a:r>
                <a:r>
                  <a:rPr lang="en-US" i="0" dirty="0" err="1"/>
                  <a:t>của</a:t>
                </a:r>
                <a:r>
                  <a:rPr lang="en-US" i="0" dirty="0"/>
                  <a:t> </a:t>
                </a:r>
                <a:r>
                  <a:rPr lang="en-US" i="0" dirty="0" err="1"/>
                  <a:t>mô</a:t>
                </a:r>
                <a:r>
                  <a:rPr lang="en-US" i="0" dirty="0"/>
                  <a:t> </a:t>
                </a:r>
                <a:r>
                  <a:rPr lang="en-US" i="0" dirty="0" err="1"/>
                  <a:t>hình</a:t>
                </a:r>
                <a:r>
                  <a:rPr lang="en-US" i="0" dirty="0"/>
                  <a:t> </a:t>
                </a:r>
                <a:r>
                  <a:rPr lang="en-US" i="0" dirty="0" err="1"/>
                  <a:t>này</a:t>
                </a:r>
                <a:r>
                  <a:rPr lang="en-US" i="0" dirty="0"/>
                  <a:t> = 2 </a:t>
                </a:r>
                <a:r>
                  <a:rPr lang="en-US" i="0" dirty="0" err="1"/>
                  <a:t>thì</a:t>
                </a:r>
                <a:r>
                  <a:rPr lang="en-US" i="0" dirty="0"/>
                  <a:t> </a:t>
                </a:r>
                <a:r>
                  <a:rPr lang="en-US" i="0" dirty="0" err="1"/>
                  <a:t>là</a:t>
                </a:r>
                <a:r>
                  <a:rPr lang="en-US" i="0" dirty="0"/>
                  <a:t> </a:t>
                </a:r>
                <a:r>
                  <a:rPr lang="en-US" i="0" dirty="0" err="1"/>
                  <a:t>khớp</a:t>
                </a:r>
                <a:r>
                  <a:rPr lang="en-US" i="0" dirty="0"/>
                  <a:t> </a:t>
                </a:r>
                <a:r>
                  <a:rPr lang="en-US" i="0" dirty="0" err="1"/>
                  <a:t>tốt</a:t>
                </a:r>
                <a:r>
                  <a:rPr lang="en-US" i="0" dirty="0"/>
                  <a:t> </a:t>
                </a:r>
                <a:r>
                  <a:rPr lang="en-US" i="0" dirty="0" err="1"/>
                  <a:t>nhất</a:t>
                </a:r>
                <a:r>
                  <a:rPr lang="en-US" i="0" dirty="0"/>
                  <a:t> </a:t>
                </a:r>
                <a:r>
                  <a:rPr lang="en-US" i="0" dirty="0" err="1"/>
                  <a:t>vào</a:t>
                </a:r>
                <a:r>
                  <a:rPr lang="en-US" i="0" dirty="0"/>
                  <a:t> </a:t>
                </a:r>
                <a:r>
                  <a:rPr lang="en-US" i="0" dirty="0" err="1"/>
                  <a:t>dữ</a:t>
                </a:r>
                <a:r>
                  <a:rPr lang="en-US" i="0" dirty="0"/>
                  <a:t> </a:t>
                </a:r>
                <a:r>
                  <a:rPr lang="en-US" i="0" dirty="0" err="1"/>
                  <a:t>liệu</a:t>
                </a:r>
                <a:r>
                  <a:rPr lang="en-US" i="0" dirty="0"/>
                  <a:t> </a:t>
                </a:r>
                <a:r>
                  <a:rPr lang="en-US" i="0" dirty="0" err="1"/>
                  <a:t>với</a:t>
                </a:r>
                <a:r>
                  <a:rPr lang="en-US" i="0" dirty="0"/>
                  <a:t> 4 </a:t>
                </a:r>
                <a:r>
                  <a:rPr lang="en-US" i="0" dirty="0" err="1"/>
                  <a:t>mẫu</a:t>
                </a:r>
                <a:r>
                  <a:rPr lang="en-US" i="0" dirty="0"/>
                  <a:t> </a:t>
                </a:r>
                <a:r>
                  <a:rPr lang="en-US" i="0" dirty="0" err="1"/>
                  <a:t>dữ</a:t>
                </a:r>
                <a:r>
                  <a:rPr lang="en-US" i="0" dirty="0"/>
                  <a:t> </a:t>
                </a:r>
                <a:r>
                  <a:rPr lang="en-US" i="0" dirty="0" err="1"/>
                  <a:t>liệu</a:t>
                </a:r>
                <a:r>
                  <a:rPr lang="en-US" i="0" dirty="0"/>
                  <a:t> </a:t>
                </a:r>
                <a:r>
                  <a:rPr lang="en-US" i="0" dirty="0" err="1"/>
                  <a:t>của</a:t>
                </a:r>
                <a:r>
                  <a:rPr lang="en-US" i="0" dirty="0"/>
                  <a:t> </a:t>
                </a:r>
                <a:r>
                  <a:rPr lang="en-US" i="0" dirty="0" err="1"/>
                  <a:t>chúng</a:t>
                </a:r>
                <a:r>
                  <a:rPr lang="en-US" i="0" dirty="0"/>
                  <a:t> ta.</a:t>
                </a:r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9BD6086F-0499-E351-C1DA-B74AC84E7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905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i="0" dirty="0"/>
          </a:p>
        </p:txBody>
      </p:sp>
      <p:sp>
        <p:nvSpPr>
          <p:cNvPr id="371" name="Google Shape;3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5BC353FF-6B05-7572-D1C9-B424986D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A32FBA72-05BC-63EC-1719-0673D100B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i="0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C9CCBA4D-57CC-00A3-893B-855D5C339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714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FB61CB6-CAA5-9763-871B-98EDA2CE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C8F0D18D-A5F7-CE44-43A9-2CAF3C0F9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i="0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97FACF21-32B2-53EF-7B2C-46DBB5376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288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D4FCFCF9-3852-2E09-A982-B3F0BAFB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>
            <a:extLst>
              <a:ext uri="{FF2B5EF4-FFF2-40B4-BE49-F238E27FC236}">
                <a16:creationId xmlns:a16="http://schemas.microsoft.com/office/drawing/2014/main" id="{CD9B96EA-7595-CB11-6EB6-E0C8515FE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>
            <a:extLst>
              <a:ext uri="{FF2B5EF4-FFF2-40B4-BE49-F238E27FC236}">
                <a16:creationId xmlns:a16="http://schemas.microsoft.com/office/drawing/2014/main" id="{4810C127-A346-9F24-B361-C86AC767A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358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07551931-59D5-979D-29BC-938699DC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1777B37-36AD-8E28-98B7-3EEBC9519CD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sz="120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1777B37-36AD-8E28-98B7-3EEBC9519CD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i="0" dirty="0"/>
                  <a:t>Ta </a:t>
                </a:r>
                <a:r>
                  <a:rPr lang="en-US" i="0" dirty="0" err="1"/>
                  <a:t>sử</a:t>
                </a:r>
                <a:r>
                  <a:rPr lang="en-US" i="0" dirty="0"/>
                  <a:t> dung </a:t>
                </a:r>
                <a:r>
                  <a:rPr lang="en-US" sz="1200" dirty="0">
                    <a:solidFill>
                      <a:srgbClr val="FF0000"/>
                    </a:solidFill>
                  </a:rPr>
                  <a:t>Hàm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mất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mát</a:t>
                </a:r>
                <a:r>
                  <a:rPr lang="en-US" sz="1200" dirty="0">
                    <a:solidFill>
                      <a:srgbClr val="FF0000"/>
                    </a:solidFill>
                  </a:rPr>
                  <a:t> (loss function), </a:t>
                </a:r>
                <a:r>
                  <a:rPr lang="en-US" sz="1200" dirty="0"/>
                  <a:t>hay </a:t>
                </a:r>
                <a:r>
                  <a:rPr lang="en-US" sz="1200" dirty="0" err="1"/>
                  <a:t>cũng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Hàm</a:t>
                </a:r>
                <a:r>
                  <a:rPr lang="en-US" sz="1200" dirty="0"/>
                  <a:t> chi </a:t>
                </a:r>
                <a:r>
                  <a:rPr lang="en-US" sz="1200" dirty="0" err="1"/>
                  <a:t>phí</a:t>
                </a:r>
                <a:r>
                  <a:rPr lang="en-US" sz="1200" dirty="0"/>
                  <a:t> (cost function)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phản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ánh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sự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hợp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</a:rPr>
                  <a:t>𝑤_0,𝑤_1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cụ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đối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với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dữ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liệu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Với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dữ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liệu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thứ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, ta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dụng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tại</a:t>
                </a:r>
                <a:r>
                  <a:rPr lang="en-US" sz="1200" dirty="0"/>
                  <a:t> w0, w1 </a:t>
                </a:r>
                <a:r>
                  <a:rPr lang="en-US" sz="1200" dirty="0" err="1"/>
                  <a:t>để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dự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đoán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tính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giữa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giá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trị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đích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dữ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liệu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y_i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giá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trị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dự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đoán</a:t>
                </a:r>
                <a:r>
                  <a:rPr lang="en-US" sz="1200" baseline="0" dirty="0"/>
                  <a:t> output </a:t>
                </a:r>
                <a:r>
                  <a:rPr lang="en-US" sz="1200" baseline="0" dirty="0" err="1"/>
                  <a:t>bởi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f(</a:t>
                </a:r>
                <a:r>
                  <a:rPr lang="en-US" sz="1200" baseline="0" dirty="0" err="1"/>
                  <a:t>x_i</a:t>
                </a:r>
                <a:r>
                  <a:rPr lang="en-US" sz="1200" baseline="0" dirty="0"/>
                  <a:t>).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độ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hơn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dấu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dữ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liệu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dự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đoán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càng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càng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minh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hoạ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ở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đây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5 </a:t>
                </a:r>
                <a:r>
                  <a:rPr lang="en-US" sz="1200" baseline="0" dirty="0" err="1"/>
                  <a:t>mẫu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dữ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liệu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dữ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liệu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trưng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đầu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giá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trị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x_i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duy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.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5 </a:t>
                </a:r>
                <a:r>
                  <a:rPr lang="en-US" sz="1200" baseline="0" dirty="0" err="1"/>
                  <a:t>điểm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với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dự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đoán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dữ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liệu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đang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dung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hồi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tuyến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đơn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dự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đoán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đều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nằm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cùng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đường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thẳng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Độ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đường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thẳng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hiện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giữa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dự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đoán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giá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trị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đích</a:t>
                </a:r>
                <a:r>
                  <a:rPr lang="en-US" sz="1200" baseline="0" dirty="0"/>
                  <a:t>. Ta </a:t>
                </a:r>
                <a:r>
                  <a:rPr lang="en-US" sz="1200" baseline="0" dirty="0" err="1"/>
                  <a:t>tính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tổng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sz="120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200" baseline="0" dirty="0" err="1"/>
                  <a:t>Hàm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gọi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Hàm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tổng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dư</a:t>
                </a:r>
                <a:r>
                  <a:rPr lang="en-US" sz="1200" baseline="0" dirty="0"/>
                  <a:t>.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định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nghĩa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hàm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sai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trung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cách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giá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trị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tổng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dư</a:t>
                </a:r>
                <a:r>
                  <a:rPr lang="en-US" sz="1200" baseline="0" dirty="0"/>
                  <a:t> chia </a:t>
                </a:r>
                <a:r>
                  <a:rPr lang="en-US" sz="1200" baseline="0" dirty="0" err="1"/>
                  <a:t>cho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dữ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liệu</a:t>
                </a:r>
                <a:r>
                  <a:rPr lang="en-US" sz="1200" baseline="0" dirty="0"/>
                  <a:t> N.</a:t>
                </a:r>
                <a:endParaRPr lang="en-US" sz="120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2243115-695D-2AF1-9062-298CE3F24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8889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7123E445-FD10-DFCE-1281-90F5858A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EB108E1E-A50B-68F8-3785-F050001644D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F8A9834B-6673-0637-364A-30FA67693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2439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2B428AF-B041-C893-902F-87EC4428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CB1B0FE-2344-3A6A-E3EA-04FBC907615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C7B0C0EA-72F6-E89F-4F27-0C7888A86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8195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A1D601D9-0DAD-F909-EED0-FAB4FDE8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DD55C677-8ED7-E8CE-0C4B-9A7CD47C753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455CAE97-5401-8E16-8888-C10D8A9F6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3361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453EBE61-319C-2239-42F6-B29F8A6E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5D213052-ABD0-B7E9-21C9-7504704A541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5F9151C-6682-D7B4-5BDD-BE5BC4677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505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C510B026-27BF-A206-0C7A-998A0789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1E1D7094-ADEB-9024-D9C0-6879CC31467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5C8EBA91-A10C-06DD-1A65-16A66C144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1939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7A9DE114-7A85-D64A-76B9-94871370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4611A011-FECA-9578-4EBE-05C3071A66B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0C6EF25D-EB7D-E84B-06F1-3EC2711F1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6927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051CA74E-21C8-0C36-3E4A-40E5DEA5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24857FB-04A0-82D5-1A44-A679A3C3E15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54FC759-5042-32A9-BF97-E59056B768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988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921B1903-8399-5A37-9F07-A522AE50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03A8CA16-1220-4FA6-CF85-C809B619D85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926EDDAC-EC78-B932-88F4-5AEDB40413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098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7DDC096-0D28-A40D-18E7-81DB09EF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F31E18BB-C70F-2355-25BA-A7843E40A2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08649262-6499-AB10-F4BF-C3E06B964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7698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FA5ACC54-BD84-303E-5971-8058C9A0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>
            <a:extLst>
              <a:ext uri="{FF2B5EF4-FFF2-40B4-BE49-F238E27FC236}">
                <a16:creationId xmlns:a16="http://schemas.microsoft.com/office/drawing/2014/main" id="{08F01883-25B5-0CCD-6B08-2F1C0AFF6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>
            <a:extLst>
              <a:ext uri="{FF2B5EF4-FFF2-40B4-BE49-F238E27FC236}">
                <a16:creationId xmlns:a16="http://schemas.microsoft.com/office/drawing/2014/main" id="{731CDF85-AE70-A203-060C-82837C589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3393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00E8615C-FBB0-A7BA-BE68-09D7D5FA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493BD532-C8FA-0630-4ADA-89C9C18160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D29A543C-189B-7578-9F81-AF941ED76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08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BDB09FD-C22C-EA25-9637-15CBEB62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8603FA16-47F2-C9EA-F4A2-FF9B0343AB4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09A6746E-282B-CA36-D28F-D8F970E6E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938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515B890-9C0C-ED16-2FA6-C07B51A8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20FC2C36-1CE5-FE78-F877-113D36A4CDD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C15263EE-08D7-3CEE-63E9-637543FD1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8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62E485C8-B2B1-A678-8ECB-C220993E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FD038DBA-818F-B62A-DBCC-AEC9E10B712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95B8F76-75FB-BFA4-53C5-A3F6D6B81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2999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04BBC609-274F-A695-0284-213DAE50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FF9C657B-6F89-B4AE-8016-9FD2226CD19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A507F443-DEA7-BE23-350D-AE74591E1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6928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8A6CE271-E6E7-ECCF-7CA7-AA82A12E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7F7B3D3F-EAF2-A0F9-A5EA-5EEF2F48821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4C0228E1-7D4A-F652-A4BD-4DA51C91D1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77551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CB2B6259-4800-16F5-E2EE-C10DCD97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21091E5-7922-1C5F-95B2-30DCACADD9E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0CC50B80-0EFC-6135-837E-2BAD3AA04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6391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44E62C3-C1DE-A07C-80D9-77343B55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>
            <a:extLst>
              <a:ext uri="{FF2B5EF4-FFF2-40B4-BE49-F238E27FC236}">
                <a16:creationId xmlns:a16="http://schemas.microsoft.com/office/drawing/2014/main" id="{1FBD3601-C9A9-A830-3D5A-229E49995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>
            <a:extLst>
              <a:ext uri="{FF2B5EF4-FFF2-40B4-BE49-F238E27FC236}">
                <a16:creationId xmlns:a16="http://schemas.microsoft.com/office/drawing/2014/main" id="{BBBB9917-6B0D-E91D-B1D0-7F6598985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047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ECF534A-E4D7-AA33-7E26-2324D195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A71DF685-926E-3356-F4CA-37AD5BB10BE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DED06628-1D28-6617-F385-84196AFF1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44703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98A4635-9763-F8F5-6749-9EBB9D55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2A9ABD58-BB26-CC3A-22B6-EB0EA50E709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3B5E57C1-B5C5-6BEE-5227-0071A8069D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8969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88DBFDE7-4A2A-6AAD-0A85-000A8A85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81E4D84F-8840-892C-226E-0EAF6AD16CA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6A999203-BDEF-3E76-41DB-6E5257441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17037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D72F08D-B1CD-6BD6-535B-D14B7AAEC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5205C1D2-638C-8DD0-0149-6B7D64E0042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7EA49A0-B655-6050-9265-5B13E795E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592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627F7B6-E746-25C8-6A34-F680A9DD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851AA977-50A0-3C85-2C10-8120343B8CD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D7F7B189-E442-12A3-1241-FF5F9747E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980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4F862FCA-FA6A-1C9F-75A6-5E25F4AA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9AE70C6A-C85E-4F30-C733-6F1FE553057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039E5304-6FCA-A7B6-02C4-FC6AEEBCC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4277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E674BD32-5C2B-8D1F-E33E-C0099010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2BAD9700-BF3B-F9B3-FA40-4F6A4C2C4BB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BA402113-C472-20EF-D44D-577A9F37C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85222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223D825-266E-68B8-66AD-FB1AF0EA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610DD217-7E46-BB40-92E1-9CB2AAB9A7B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28BC6521-5648-7E7E-56D2-A36D126C9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65634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AFAE8BEE-4D72-7801-88D4-3F803061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BBD9BAD-2985-927E-D654-D685784A928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5261EC76-778B-F642-CA97-B1784A85E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57880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BF6C0F3-2291-974B-2B24-D0F39070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8DB8A0A7-8CF3-99EF-68C1-F774EC42D61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3155CFD4-22BA-C9C9-5B7B-B451EB94C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53822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10073A7-85EA-D3E7-39D8-15E978FD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1FE173AA-38DF-E0E1-4E9C-12B21028FD5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BA59EFD5-FB39-A0F6-0465-13445FFB2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91354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A8B0C812-6B8C-960F-CFF6-8D7EB9D5C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70B720BC-298F-D4E7-12F2-E4B484CBDB1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6ADEB57C-12A7-F895-F7B2-2DBE50956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5184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8ABD017-B590-D9FB-3BDB-10195404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683BC154-764F-2104-6E2B-D3017424B76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38EE9741-7309-970D-466A-D8F0DF89CE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Trong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mù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3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bi.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1200" dirty="0">
                    <a:solidFill>
                      <a:srgbClr val="0072FF"/>
                    </a:solidFill>
                  </a:rPr>
                  <a:t> </a:t>
                </a:r>
                <a:r>
                  <a:rPr lang="en-US" sz="1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số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xanh</a:t>
                </a:r>
                <a:r>
                  <a:rPr lang="en-US" sz="1200" dirty="0"/>
                  <a:t>,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0, 1, 2, </a:t>
                </a:r>
                <a:r>
                  <a:rPr lang="en-US" sz="1200" dirty="0" err="1"/>
                  <a:t>hoặc</a:t>
                </a:r>
                <a:r>
                  <a:rPr lang="en-US" sz="1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một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khỏi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của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viên</a:t>
                </a:r>
                <a:r>
                  <a:rPr lang="en-US" sz="1200" dirty="0"/>
                  <a:t> bi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trong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túi</a:t>
                </a:r>
                <a:r>
                  <a:rPr lang="en-US" sz="1200" dirty="0"/>
                  <a:t>. Ta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vậy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thay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thế</a:t>
                </a:r>
                <a:r>
                  <a:rPr lang="en-US" sz="1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/>
                  <a:t>Ta </a:t>
                </a:r>
                <a:r>
                  <a:rPr lang="en-US" sz="1200" dirty="0" err="1"/>
                  <a:t>định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nghĩa</a:t>
                </a:r>
                <a:r>
                  <a:rPr lang="en-US" sz="1200" dirty="0"/>
                  <a:t> 4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𝑋_1,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2,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3,</a:t>
                </a:r>
                <a:r>
                  <a:rPr lang="en-US" sz="1200" i="0">
                    <a:latin typeface="Cambria Math" panose="02040503050406030204" pitchFamily="18" charset="0"/>
                  </a:rPr>
                  <a:t>𝑋_</a:t>
                </a:r>
                <a:r>
                  <a:rPr lang="en-US" sz="1200" b="0" i="0">
                    <a:latin typeface="Cambria Math" panose="02040503050406030204" pitchFamily="18" charset="0"/>
                  </a:rPr>
                  <a:t>4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như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𝑋_𝑖={█(1,  nếu viên bi thứ 𝑖 </a:t>
                </a:r>
                <a:r>
                  <a:rPr lang="en-US" sz="1200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màu xanh@</a:t>
                </a:r>
                <a:r>
                  <a:rPr lang="en-US" sz="1200" b="0" i="0">
                    <a:latin typeface="Cambria Math" panose="02040503050406030204" pitchFamily="18" charset="0"/>
                  </a:rPr>
                  <a:t>&amp;0,  nếu viên bi thứ 𝑖 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màu đỏ     )┤</a:t>
                </a: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Giả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sử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sau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mà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: 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=0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i="0">
                    <a:latin typeface="Cambria Math" panose="02040503050406030204" pitchFamily="18" charset="0"/>
                  </a:rPr>
                  <a:t>,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𝑥_</a:t>
                </a:r>
                <a:r>
                  <a:rPr lang="en-US" sz="120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1200" b="0" i="0">
                    <a:solidFill>
                      <a:srgbClr val="0072FF"/>
                    </a:solidFill>
                    <a:latin typeface="Cambria Math" panose="02040503050406030204" pitchFamily="18" charset="0"/>
                  </a:rPr>
                  <a:t>=1</a:t>
                </a:r>
                <a:r>
                  <a:rPr lang="en-US" sz="1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dirty="0" err="1"/>
                  <a:t>Các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biến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i="1" dirty="0" err="1"/>
                  <a:t>i.i.d.</a:t>
                </a:r>
                <a:r>
                  <a:rPr lang="en-US" sz="1200" i="1" dirty="0"/>
                  <a:t> </a:t>
                </a:r>
                <a:r>
                  <a:rPr lang="en-US" sz="1200" dirty="0"/>
                  <a:t>(independent and identically distributed – </a:t>
                </a:r>
                <a:r>
                  <a:rPr lang="en-US" sz="1200" dirty="0" err="1"/>
                  <a:t>độc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cùng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)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có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mô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hình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hóa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theo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phân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phối</a:t>
                </a:r>
                <a:r>
                  <a:rPr lang="en-US" sz="1200" dirty="0"/>
                  <a:t> Bernoulli </a:t>
                </a:r>
                <a:r>
                  <a:rPr lang="en-US" sz="1200" i="0">
                    <a:latin typeface="Cambria Math" panose="02040503050406030204" pitchFamily="18" charset="0"/>
                  </a:rPr>
                  <a:t>𝑋_𝑖</a:t>
                </a:r>
                <a:r>
                  <a:rPr lang="en-US" sz="1200" b="0" i="0">
                    <a:latin typeface="Cambria Math" panose="02040503050406030204" pitchFamily="18" charset="0"/>
                  </a:rPr>
                  <a:t>~𝐵𝑒𝑟𝑛𝑜𝑢𝑙𝑙𝑖(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en-US" sz="1200" b="0" i="0">
                    <a:latin typeface="Cambria Math" panose="02040503050406030204" pitchFamily="18" charset="0"/>
                  </a:rPr>
                  <a:t>3)</a:t>
                </a:r>
                <a:r>
                  <a:rPr lang="en-US" sz="1200" dirty="0"/>
                  <a:t>. </a:t>
                </a:r>
                <a:r>
                  <a:rPr lang="en-US" sz="1200" dirty="0" err="1"/>
                  <a:t>Các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dùng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như</a:t>
                </a:r>
                <a:r>
                  <a:rPr lang="en-US" sz="1200" baseline="0" dirty="0"/>
                  <a:t> tung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xấp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đồng</a:t>
                </a:r>
                <a:r>
                  <a:rPr lang="en-US" sz="1200" baseline="0" dirty="0"/>
                  <a:t> xu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mặt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ngửa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xảy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p,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còn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lại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1-p.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tham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ví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dụ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ra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khỏi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chỉ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2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Nên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mô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hình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hóa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mỗi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một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ngẫu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nhiên</a:t>
                </a:r>
                <a:r>
                  <a:rPr lang="en-US" sz="1200" baseline="0" dirty="0"/>
                  <a:t> tuan </a:t>
                </a:r>
                <a:r>
                  <a:rPr lang="en-US" sz="1200" baseline="0" dirty="0" err="1"/>
                  <a:t>theo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phân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phối</a:t>
                </a:r>
                <a:r>
                  <a:rPr lang="en-US" sz="1200" baseline="0" dirty="0"/>
                  <a:t> Bernoulli.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giả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sử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mà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tâm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cục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theta/3.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theta=0,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sẽ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nào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theta=3,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100%. </a:t>
                </a:r>
                <a:r>
                  <a:rPr lang="en-US" sz="1200" baseline="0" dirty="0" err="1"/>
                  <a:t>Tương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tự</a:t>
                </a:r>
                <a:r>
                  <a:rPr lang="en-US" sz="1200" baseline="0" dirty="0"/>
                  <a:t>,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suất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thể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1/3 </a:t>
                </a:r>
                <a:r>
                  <a:rPr lang="en-US" sz="1200" baseline="0" dirty="0" err="1"/>
                  <a:t>hoặc</a:t>
                </a:r>
                <a:r>
                  <a:rPr lang="en-US" sz="1200" baseline="0" dirty="0"/>
                  <a:t> 2/3. 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baseline="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aseline="0" dirty="0" err="1"/>
                  <a:t>Lưu</a:t>
                </a:r>
                <a:r>
                  <a:rPr lang="en-US" sz="1200" baseline="0" dirty="0"/>
                  <a:t> ý: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trong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tức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biết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chính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xác</a:t>
                </a:r>
                <a:r>
                  <a:rPr lang="en-US" sz="1200" baseline="0" dirty="0"/>
                  <a:t> theta =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1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1200" b="1" dirty="0" err="1"/>
                  <a:t>Câu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hỏi</a:t>
                </a:r>
                <a:r>
                  <a:rPr lang="en-US" sz="1200" b="1" dirty="0"/>
                  <a:t>: </a:t>
                </a:r>
                <a:r>
                  <a:rPr lang="en-US" sz="1200" dirty="0" err="1"/>
                  <a:t>Giá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trị</a:t>
                </a:r>
                <a:r>
                  <a:rPr lang="en-US" sz="1200" dirty="0"/>
                  <a:t>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bằng</a:t>
                </a:r>
                <a:r>
                  <a:rPr lang="en-US" sz="1200" dirty="0"/>
                  <a:t> bao </a:t>
                </a:r>
                <a:r>
                  <a:rPr lang="en-US" sz="1200" dirty="0" err="1"/>
                  <a:t>nhiêu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khả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năng</a:t>
                </a:r>
                <a:r>
                  <a:rPr lang="en-US" sz="1200" dirty="0"/>
                  <a:t> ta </a:t>
                </a:r>
                <a:r>
                  <a:rPr lang="en-US" sz="1200" dirty="0" err="1"/>
                  <a:t>quan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sát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kết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quả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nghiệm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trên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lớn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? </a:t>
                </a:r>
                <a:r>
                  <a:rPr lang="en-US" sz="1200" dirty="0" err="1"/>
                  <a:t>Số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viên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màu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kết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của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thực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nghiệm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trên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0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rõ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ràng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đã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3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Nếu</a:t>
                </a:r>
                <a:r>
                  <a:rPr lang="en-US" sz="1200" baseline="0" dirty="0"/>
                  <a:t> theta = 3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? </a:t>
                </a:r>
                <a:r>
                  <a:rPr lang="en-US" sz="1200" baseline="0" dirty="0" err="1"/>
                  <a:t>Câu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trả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lời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cũng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không</a:t>
                </a:r>
                <a:r>
                  <a:rPr lang="en-US" sz="1200" baseline="0" dirty="0"/>
                  <a:t>, </a:t>
                </a:r>
                <a:r>
                  <a:rPr lang="en-US" sz="1200" baseline="0" dirty="0" err="1"/>
                  <a:t>vì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lấy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1 </a:t>
                </a:r>
                <a:r>
                  <a:rPr lang="en-US" sz="1200" baseline="0" dirty="0" err="1"/>
                  <a:t>lần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Trong </a:t>
                </a:r>
                <a:r>
                  <a:rPr lang="en-US" sz="1200" baseline="0" dirty="0" err="1"/>
                  <a:t>túi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này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chắn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vừa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có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và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. </a:t>
                </a:r>
                <a:r>
                  <a:rPr lang="en-US" sz="1200" baseline="0" dirty="0" err="1"/>
                  <a:t>Vậy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số</a:t>
                </a:r>
                <a:r>
                  <a:rPr lang="en-US" sz="1200" baseline="0" dirty="0"/>
                  <a:t> bi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bằng</a:t>
                </a:r>
                <a:r>
                  <a:rPr lang="en-US" sz="1200" baseline="0" dirty="0"/>
                  <a:t> bao </a:t>
                </a:r>
                <a:r>
                  <a:rPr lang="en-US" sz="1200" baseline="0" dirty="0" err="1"/>
                  <a:t>nhiêu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thì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khả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năng</a:t>
                </a:r>
                <a:r>
                  <a:rPr lang="en-US" sz="1200" baseline="0" dirty="0"/>
                  <a:t> ta </a:t>
                </a:r>
                <a:r>
                  <a:rPr lang="en-US" sz="1200" baseline="0" dirty="0" err="1"/>
                  <a:t>quan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sát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được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đỏ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xanh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là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lớn</a:t>
                </a:r>
                <a:r>
                  <a:rPr lang="en-US" sz="1200" baseline="0" dirty="0"/>
                  <a:t> </a:t>
                </a:r>
                <a:r>
                  <a:rPr lang="en-US" sz="1200" baseline="0" dirty="0" err="1"/>
                  <a:t>nhất</a:t>
                </a:r>
                <a:r>
                  <a:rPr lang="en-US" sz="1200" baseline="0" dirty="0"/>
                  <a:t>?</a:t>
                </a:r>
                <a:endParaRPr lang="en-US" sz="12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i="0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4CC19A39-6AA3-BD8D-3A9E-344851BEE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134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13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1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1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13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13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3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3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3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13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sz="4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sz="28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69" name="Google Shape;69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5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74" name="Google Shape;74;p15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5" name="Google Shape;75;p15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15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15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" name="Google Shape;78;p15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15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80" name="Google Shape;80;p15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15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15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3" name="Google Shape;83;p15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" name="Google Shape;84;p15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" name="Google Shape;86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9" name="Google Shape;89;p15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1" name="Google Shape;91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4" name="Google Shape;94;p15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95" name="Google Shape;95;p15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15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15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8" name="Google Shape;98;p15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5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00" name="Google Shape;100;p15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15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15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3" name="Google Shape;103;p15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" name="Google Shape;104;p15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105" name="Google Shape;105;p15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06" name="Google Shape;106;p15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15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15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9" name="Google Shape;109;p15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15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11" name="Google Shape;111;p15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15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15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4" name="Google Shape;114;p15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" name="Google Shape;115;p15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7" name="Google Shape;117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0" name="Google Shape;120;p15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2" name="Google Shape;122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5" name="Google Shape;125;p15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26" name="Google Shape;126;p15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15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15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9" name="Google Shape;129;p15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15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31" name="Google Shape;131;p15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15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15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4" name="Google Shape;134;p15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5" name="Google Shape;135;p15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5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5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41" name="Google Shape;141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" name="Google Shape;142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15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4" name="Google Shape;144;p15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52" name="Google Shape;152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3" name="Google Shape;153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4" name="Google Shape;154;p1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5" name="Google Shape;155;p1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" name="Google Shape;159;p1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0" name="Google Shape;160;p16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5" name="Google Shape;165;p16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16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8" name="Google Shape;168;p16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69" name="Google Shape;169;p16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17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81" name="Google Shape;181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" name="Google Shape;182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" name="Google Shape;183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4" name="Google Shape;184;p1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body"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8" name="Google Shape;188;p17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89" name="Google Shape;189;p17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7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grpSp>
        <p:nvGrpSpPr>
          <p:cNvPr id="199" name="Google Shape;199;p17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00" name="Google Shape;200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" name="Google Shape;201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2" name="Google Shape;202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37" name="Google Shape;337;p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</a:t>
            </a:fld>
            <a:endParaRPr/>
          </a:p>
        </p:txBody>
      </p:sp>
      <p:sp>
        <p:nvSpPr>
          <p:cNvPr id="338" name="Google Shape;338;p1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</a:pPr>
            <a:r>
              <a:rPr lang="en-US" dirty="0"/>
              <a:t>TOÁN CHO KHOA HỌC MÁY TÍNH</a:t>
            </a:r>
            <a:endParaRPr dirty="0"/>
          </a:p>
        </p:txBody>
      </p:sp>
      <p:sp>
        <p:nvSpPr>
          <p:cNvPr id="339" name="Google Shape;339;p1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</a:pPr>
            <a:r>
              <a:rPr lang="en-US" dirty="0"/>
              <a:t>ƯỚC LƯỢNG HỢP LÝ CỰC ĐẠI</a:t>
            </a:r>
            <a:endParaRPr dirty="0"/>
          </a:p>
        </p:txBody>
      </p:sp>
      <p:sp>
        <p:nvSpPr>
          <p:cNvPr id="340" name="Google Shape;340;p1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TS. Lương Ngọc Hoàng</a:t>
            </a:r>
            <a:endParaRPr/>
          </a:p>
        </p:txBody>
      </p:sp>
      <p:sp>
        <p:nvSpPr>
          <p:cNvPr id="341" name="Google Shape;341;p1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56" name="Google Shape;356;p3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</a:t>
            </a:fld>
            <a:endParaRPr/>
          </a:p>
        </p:txBody>
      </p:sp>
      <p:sp>
        <p:nvSpPr>
          <p:cNvPr id="357" name="Google Shape;357;p3"/>
          <p:cNvSpPr txBox="1">
            <a:spLocks noGrp="1"/>
          </p:cNvSpPr>
          <p:nvPr>
            <p:ph type="body" idx="1"/>
          </p:nvPr>
        </p:nvSpPr>
        <p:spPr>
          <a:xfrm>
            <a:off x="1678898" y="1559014"/>
            <a:ext cx="9443803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692150" lvl="0" indent="-51435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lang="en-US" dirty="0"/>
          </a:p>
          <a:p>
            <a:pPr marL="692150" lvl="0" indent="-51435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endParaRPr lang="en-US" dirty="0"/>
          </a:p>
          <a:p>
            <a:pPr marL="692150" lvl="0" indent="-51435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marL="692150" lvl="0" indent="-51435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(overfitting),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(regularization),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58" name="Google Shape;358;p3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/>
              <a:t>Nội dung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 dirty="0"/>
              <a:t>ƯỚC LƯỢNG HỢP LÝ CỰC ĐẠI</a:t>
            </a:r>
            <a:endParaRPr dirty="0"/>
          </a:p>
        </p:txBody>
      </p:sp>
      <p:sp>
        <p:nvSpPr>
          <p:cNvPr id="364" name="Google Shape;364;p4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MAXIMUM LIKELIHOOD ESTIMATION</a:t>
            </a:r>
            <a:endParaRPr dirty="0"/>
          </a:p>
        </p:txBody>
      </p:sp>
      <p:sp>
        <p:nvSpPr>
          <p:cNvPr id="365" name="Google Shape;365;p4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5367A396-0A4B-4CAF-57EA-BDBF1B19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86B80BF-29E4-C92B-BC1E-BC61DCC5D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44768290-4BDA-E7F9-AEFD-DDACB87F7BA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/>
                  <a:t>Trong </a:t>
                </a:r>
                <a:r>
                  <a:rPr lang="en-US" sz="2200" dirty="0" err="1"/>
                  <a:t>một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túi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mù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3 </a:t>
                </a:r>
                <a:r>
                  <a:rPr lang="en-US" sz="2200" dirty="0" err="1"/>
                  <a:t>viên</a:t>
                </a:r>
                <a:r>
                  <a:rPr lang="en-US" sz="2200" dirty="0"/>
                  <a:t> bi. </a:t>
                </a:r>
                <a:r>
                  <a:rPr lang="en-US" sz="2200" dirty="0" err="1"/>
                  <a:t>Mỗi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viên</a:t>
                </a:r>
                <a:r>
                  <a:rPr lang="en-US" sz="2200" dirty="0"/>
                  <a:t> bi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thể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màu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đỏ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/>
                  <a:t>hoặc</a:t>
                </a:r>
                <a:r>
                  <a:rPr lang="en-US" sz="2200" dirty="0"/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màu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xanh</a:t>
                </a:r>
                <a:r>
                  <a:rPr lang="en-US" sz="2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Gọi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số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viên</a:t>
                </a:r>
                <a:r>
                  <a:rPr lang="en-US" sz="2200" dirty="0"/>
                  <a:t> bi </a:t>
                </a:r>
                <a:r>
                  <a:rPr lang="en-US" sz="2200" dirty="0" err="1"/>
                  <a:t>màu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xanh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thể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0, 1, 2, </a:t>
                </a:r>
                <a:r>
                  <a:rPr lang="en-US" sz="2200" dirty="0" err="1"/>
                  <a:t>hoặc</a:t>
                </a:r>
                <a:r>
                  <a:rPr lang="en-US" sz="2200" dirty="0"/>
                  <a:t> 3.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/>
                  <a:t>Ta </a:t>
                </a:r>
                <a:r>
                  <a:rPr lang="en-US" sz="2200" dirty="0" err="1"/>
                  <a:t>lấy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một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viên</a:t>
                </a:r>
                <a:r>
                  <a:rPr lang="en-US" sz="2200" dirty="0"/>
                  <a:t> bi </a:t>
                </a:r>
                <a:r>
                  <a:rPr lang="en-US" sz="2200" dirty="0" err="1"/>
                  <a:t>ra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khỏi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túi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quan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sát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màu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viên</a:t>
                </a:r>
                <a:r>
                  <a:rPr lang="en-US" sz="2200" dirty="0"/>
                  <a:t> bi, </a:t>
                </a:r>
                <a:r>
                  <a:rPr lang="en-US" sz="2200" dirty="0" err="1"/>
                  <a:t>và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lại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viên</a:t>
                </a:r>
                <a:r>
                  <a:rPr lang="en-US" sz="2200" dirty="0"/>
                  <a:t> bi </a:t>
                </a:r>
                <a:r>
                  <a:rPr lang="en-US" sz="2200" dirty="0" err="1"/>
                  <a:t>vào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trong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túi</a:t>
                </a:r>
                <a:r>
                  <a:rPr lang="en-US" sz="2200" dirty="0"/>
                  <a:t>. Ta </a:t>
                </a:r>
                <a:r>
                  <a:rPr lang="en-US" sz="2200" dirty="0" err="1"/>
                  <a:t>thực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hiện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như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vậy</a:t>
                </a:r>
                <a:r>
                  <a:rPr lang="en-US" sz="2200" dirty="0"/>
                  <a:t> 4 </a:t>
                </a:r>
                <a:r>
                  <a:rPr lang="en-US" sz="2200" dirty="0" err="1"/>
                  <a:t>lần</a:t>
                </a:r>
                <a:r>
                  <a:rPr lang="en-US" sz="2200" dirty="0"/>
                  <a:t> (</a:t>
                </a:r>
                <a:r>
                  <a:rPr lang="en-US" sz="2200" dirty="0" err="1"/>
                  <a:t>chọn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thay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thế</a:t>
                </a:r>
                <a:r>
                  <a:rPr lang="en-US" sz="2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/>
                  <a:t>Ta </a:t>
                </a:r>
                <a:r>
                  <a:rPr lang="en-US" sz="2200" dirty="0" err="1"/>
                  <a:t>định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nghĩa</a:t>
                </a:r>
                <a:r>
                  <a:rPr lang="en-US" sz="2200" dirty="0"/>
                  <a:t> 4 </a:t>
                </a:r>
                <a:r>
                  <a:rPr lang="en-US" sz="2200" dirty="0" err="1"/>
                  <a:t>biến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như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sau</a:t>
                </a:r>
                <a:r>
                  <a:rPr lang="en-US" sz="2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ế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vi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ê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bi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ứ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2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2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xanh</m:t>
                              </m:r>
                            </m:e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&amp;0, 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ế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vi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ê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bi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ứ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đỏ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Giả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sử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sau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nghiệm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trên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giá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trị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mà</a:t>
                </a:r>
                <a:r>
                  <a:rPr lang="en-US" sz="2200" dirty="0"/>
                  <a:t> ta </a:t>
                </a:r>
                <a:r>
                  <a:rPr lang="en-US" sz="2200" dirty="0" err="1"/>
                  <a:t>quan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sát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được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0072FF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smtClean="0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0072FF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smtClean="0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72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0072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biến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i="1" dirty="0" err="1"/>
                  <a:t>i.i.d.</a:t>
                </a:r>
                <a:r>
                  <a:rPr lang="en-US" sz="2200" i="1" dirty="0"/>
                  <a:t> </a:t>
                </a:r>
                <a:r>
                  <a:rPr lang="en-US" sz="2200" dirty="0"/>
                  <a:t>(independent and identically distributed – </a:t>
                </a:r>
                <a:r>
                  <a:rPr lang="en-US" sz="2200" dirty="0" err="1"/>
                  <a:t>độc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lập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cùng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phối</a:t>
                </a:r>
                <a:r>
                  <a:rPr lang="en-US" sz="2200" dirty="0"/>
                  <a:t>) </a:t>
                </a:r>
                <a:r>
                  <a:rPr lang="en-US" sz="2200" dirty="0" err="1"/>
                  <a:t>và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thể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được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mô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hình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hóa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theo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phối</a:t>
                </a:r>
                <a:r>
                  <a:rPr lang="en-US" sz="2200" dirty="0"/>
                  <a:t> Bernoulli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𝐵𝑒𝑟𝑛𝑜𝑢𝑙𝑙𝑖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b="1" dirty="0" err="1"/>
                  <a:t>Câu</a:t>
                </a:r>
                <a:r>
                  <a:rPr lang="en-US" sz="2200" b="1" dirty="0"/>
                  <a:t> </a:t>
                </a:r>
                <a:r>
                  <a:rPr lang="en-US" sz="2200" b="1" dirty="0" err="1"/>
                  <a:t>hỏi</a:t>
                </a:r>
                <a:r>
                  <a:rPr lang="en-US" sz="2200" b="1" dirty="0"/>
                  <a:t>: </a:t>
                </a:r>
                <a:r>
                  <a:rPr lang="en-US" sz="2200" dirty="0" err="1"/>
                  <a:t>Giá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trị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bằng</a:t>
                </a:r>
                <a:r>
                  <a:rPr lang="en-US" sz="2200" dirty="0"/>
                  <a:t> bao </a:t>
                </a:r>
                <a:r>
                  <a:rPr lang="en-US" sz="2200" dirty="0" err="1"/>
                  <a:t>nhiêu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thì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khả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năng</a:t>
                </a:r>
                <a:r>
                  <a:rPr lang="en-US" sz="2200" dirty="0"/>
                  <a:t> ta </a:t>
                </a:r>
                <a:r>
                  <a:rPr lang="en-US" sz="2200" dirty="0" err="1"/>
                  <a:t>quan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sát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được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kết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quả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nghiệm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trên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lớn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nhất</a:t>
                </a:r>
                <a:r>
                  <a:rPr lang="en-US" sz="2200" dirty="0"/>
                  <a:t>?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44768290-4BDA-E7F9-AEFD-DDACB87F7BA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586" r="-694" b="-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F93A676-1B5E-28CD-079D-8FBE8B32204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4A9517EB-B2E8-5553-AB68-8EF2DD9022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878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54EAC12D-1E2F-1FC4-B6C5-0FF499B7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6DF552D2-92E3-33BD-6559-AF1D03F46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EFE70C1-AE01-D44C-E205-286B600AD35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306005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   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&amp;1−</m:t>
                              </m:r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Vì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độc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lập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hàm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khối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suất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đồng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thời</a:t>
                </a:r>
                <a:r>
                  <a:rPr lang="en-US" sz="2200" dirty="0"/>
                  <a:t> (joint probability mass function )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rgbClr val="007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2200" b="1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2200" b="1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Kết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quả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nghiệm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mà</a:t>
                </a:r>
                <a:r>
                  <a:rPr lang="en-US" sz="2200" dirty="0"/>
                  <a:t> ta </a:t>
                </a:r>
                <a:r>
                  <a:rPr lang="en-US" sz="2200" dirty="0" err="1"/>
                  <a:t>quan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sát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được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khả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năng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xảy</a:t>
                </a:r>
                <a:r>
                  <a:rPr lang="en-US" sz="2200" dirty="0"/>
                  <a:t> </a:t>
                </a:r>
                <a:r>
                  <a:rPr lang="en-US" sz="2200" dirty="0" err="1"/>
                  <a:t>ra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cao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nhất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khi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/>
                  <a:t>Ta </a:t>
                </a:r>
                <a:r>
                  <a:rPr lang="en-US" sz="2200" dirty="0" err="1"/>
                  <a:t>chọn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ước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en-US" sz="2200" dirty="0">
                    <a:solidFill>
                      <a:srgbClr val="FF0000"/>
                    </a:solidFill>
                  </a:rPr>
                  <a:t> (estimate) </a:t>
                </a:r>
                <a:r>
                  <a:rPr lang="en-US" sz="2200" dirty="0" err="1"/>
                  <a:t>về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giá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trị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EFE70C1-AE01-D44C-E205-286B600AD3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306005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b="-10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743C09CE-CBCC-7258-5214-3B54990868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 dirty="0"/>
              <a:t>Thực hiện bởi Trường Đại học Công nghệ Thông tin, ĐHQG-HCM</a:t>
            </a:r>
            <a:endParaRPr dirty="0"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49BA75D6-CC14-57E0-9631-977615DA69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A85ACC-169F-8D8D-DD46-EC7210314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636968"/>
                  </p:ext>
                </p:extLst>
              </p:nvPr>
            </p:nvGraphicFramePr>
            <p:xfrm>
              <a:off x="4141142" y="4083487"/>
              <a:ext cx="2679070" cy="1580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6659">
                      <a:extLst>
                        <a:ext uri="{9D8B030D-6E8A-4147-A177-3AD203B41FA5}">
                          <a16:colId xmlns:a16="http://schemas.microsoft.com/office/drawing/2014/main" val="896712529"/>
                        </a:ext>
                      </a:extLst>
                    </a:gridCol>
                    <a:gridCol w="2022411">
                      <a:extLst>
                        <a:ext uri="{9D8B030D-6E8A-4147-A177-3AD203B41FA5}">
                          <a16:colId xmlns:a16="http://schemas.microsoft.com/office/drawing/2014/main" val="2989328243"/>
                        </a:ext>
                      </a:extLst>
                    </a:gridCol>
                  </a:tblGrid>
                  <a:tr h="29717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1363019"/>
                      </a:ext>
                    </a:extLst>
                  </a:tr>
                  <a:tr h="2795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1761672"/>
                      </a:ext>
                    </a:extLst>
                  </a:tr>
                  <a:tr h="2795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(1/3)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(2/3)≈0.0247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75014087"/>
                      </a:ext>
                    </a:extLst>
                  </a:tr>
                  <a:tr h="2795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(2/3)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(1/3)≈0.0988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186513"/>
                      </a:ext>
                    </a:extLst>
                  </a:tr>
                  <a:tr h="3423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72320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A85ACC-169F-8D8D-DD46-EC7210314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636968"/>
                  </p:ext>
                </p:extLst>
              </p:nvPr>
            </p:nvGraphicFramePr>
            <p:xfrm>
              <a:off x="4141142" y="4083487"/>
              <a:ext cx="2679070" cy="1580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6659">
                      <a:extLst>
                        <a:ext uri="{9D8B030D-6E8A-4147-A177-3AD203B41FA5}">
                          <a16:colId xmlns:a16="http://schemas.microsoft.com/office/drawing/2014/main" val="896712529"/>
                        </a:ext>
                      </a:extLst>
                    </a:gridCol>
                    <a:gridCol w="2022411">
                      <a:extLst>
                        <a:ext uri="{9D8B030D-6E8A-4147-A177-3AD203B41FA5}">
                          <a16:colId xmlns:a16="http://schemas.microsoft.com/office/drawing/2014/main" val="2989328243"/>
                        </a:ext>
                      </a:extLst>
                    </a:gridCol>
                  </a:tblGrid>
                  <a:tr h="324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6" t="-1852" r="-309259" b="-39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831" t="-1852" r="-602" b="-3907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3630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17616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831" t="-210000" r="-602" b="-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50140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831" t="-310000" r="-602" b="-1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186513"/>
                      </a:ext>
                    </a:extLst>
                  </a:tr>
                  <a:tr h="3423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72320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6187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/>
          <p:cNvSpPr txBox="1">
            <a:spLocks noGrp="1"/>
          </p:cNvSpPr>
          <p:nvPr>
            <p:ph type="title"/>
          </p:nvPr>
        </p:nvSpPr>
        <p:spPr>
          <a:xfrm>
            <a:off x="774145" y="9161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7750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/>
                  <a:t>Một </a:t>
                </a:r>
                <a:r>
                  <a:rPr lang="en-US" sz="2400" dirty="0" err="1"/>
                  <a:t>quá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trình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quan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trọng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máy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lượng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tham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mô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hình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dữ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liệu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vi-VN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thường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huấn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luyện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mô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hình</a:t>
                </a:r>
                <a:r>
                  <a:rPr lang="en-US" sz="2400" dirty="0"/>
                  <a:t> (model training), hay </a:t>
                </a:r>
                <a:r>
                  <a:rPr lang="en-US" sz="2400" dirty="0" err="1"/>
                  <a:t>khớp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mô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hình</a:t>
                </a:r>
                <a:r>
                  <a:rPr lang="en-US" sz="2400" dirty="0"/>
                  <a:t> (model fitting).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 err="1"/>
                  <a:t>Có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nhiều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phương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pháp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lượng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ta </a:t>
                </a:r>
                <a:r>
                  <a:rPr lang="en-US" sz="2400" dirty="0" err="1"/>
                  <a:t>thường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quyết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bài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toán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ưu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hoá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fun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mất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mát</a:t>
                </a:r>
                <a:r>
                  <a:rPr lang="en-US" sz="2400" dirty="0"/>
                  <a:t> (loss), hay </a:t>
                </a:r>
                <a:r>
                  <a:rPr lang="en-US" sz="2400" dirty="0" err="1"/>
                  <a:t>còn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mục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tiêu</a:t>
                </a:r>
                <a:r>
                  <a:rPr lang="en-US" sz="2400" dirty="0"/>
                  <a:t> (objective function).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lượng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tham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(parameter estimation) </a:t>
                </a:r>
                <a:r>
                  <a:rPr lang="en-US" sz="2400" dirty="0" err="1"/>
                  <a:t>phổ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biến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chính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bộ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tham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sao</a:t>
                </a:r>
                <a:r>
                  <a:rPr lang="en-US" sz="2400" dirty="0"/>
                  <a:t> cho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khả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năng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xảy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ra</a:t>
                </a:r>
                <a:r>
                  <a:rPr lang="en-US" sz="2400" dirty="0">
                    <a:solidFill>
                      <a:srgbClr val="FF00FF"/>
                    </a:solidFill>
                  </a:rPr>
                  <a:t> (likelihood)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dữ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liệu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vi-VN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lớn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nhất</a:t>
                </a:r>
                <a:r>
                  <a:rPr lang="en-US" sz="2400" dirty="0"/>
                  <a:t>. </a:t>
                </a:r>
                <a:r>
                  <a:rPr lang="en-US" sz="2400" dirty="0" err="1"/>
                  <a:t>Phương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pháp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này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rgbClr val="0072FF"/>
                    </a:solidFill>
                  </a:rPr>
                  <a:t>Ước</a:t>
                </a:r>
                <a:r>
                  <a:rPr lang="en-US" sz="2400" dirty="0">
                    <a:solidFill>
                      <a:srgbClr val="0072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72FF"/>
                    </a:solidFill>
                  </a:rPr>
                  <a:t>lượng</a:t>
                </a:r>
                <a:r>
                  <a:rPr lang="en-US" sz="2400" dirty="0">
                    <a:solidFill>
                      <a:srgbClr val="0072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72FF"/>
                    </a:solidFill>
                  </a:rPr>
                  <a:t>hợp</a:t>
                </a:r>
                <a:r>
                  <a:rPr lang="en-US" sz="2400" dirty="0">
                    <a:solidFill>
                      <a:srgbClr val="0072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72FF"/>
                    </a:solidFill>
                  </a:rPr>
                  <a:t>lý</a:t>
                </a:r>
                <a:r>
                  <a:rPr lang="en-US" sz="2400" dirty="0">
                    <a:solidFill>
                      <a:srgbClr val="0072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72FF"/>
                    </a:solidFill>
                  </a:rPr>
                  <a:t>cực</a:t>
                </a:r>
                <a:r>
                  <a:rPr lang="en-US" sz="2400" dirty="0">
                    <a:solidFill>
                      <a:srgbClr val="0072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72FF"/>
                    </a:solidFill>
                  </a:rPr>
                  <a:t>đại</a:t>
                </a:r>
                <a:r>
                  <a:rPr lang="en-US" sz="2400" dirty="0">
                    <a:solidFill>
                      <a:srgbClr val="0072FF"/>
                    </a:solidFill>
                  </a:rPr>
                  <a:t> (maximum likelihood estimation – MLE)</a:t>
                </a:r>
                <a:r>
                  <a:rPr lang="en-US" sz="2400" dirty="0"/>
                  <a:t>.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374" name="Google Shape;374;p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7750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164" r="-8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6F5CC1D2-83F2-5DC9-88F8-A492DFE6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607A36E1-3374-6630-A275-74F230416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9161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245D153-C432-EF1F-5C6A-7E99EAE0423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7750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/>
                  <a:t>Ta </a:t>
                </a:r>
                <a:r>
                  <a:rPr lang="en-US" sz="2400" dirty="0" err="1"/>
                  <a:t>thường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mẫu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dữ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liệu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nhau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có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cùng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suất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giả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thiết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iid</a:t>
                </a:r>
                <a:r>
                  <a:rPr lang="en-US" sz="2400" dirty="0"/>
                  <a:t>).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năng</a:t>
                </a:r>
                <a:r>
                  <a:rPr lang="en-US" sz="2400" dirty="0"/>
                  <a:t> (likelihood function) </a:t>
                </a:r>
                <a:r>
                  <a:rPr lang="en-US" sz="2400" dirty="0" err="1"/>
                  <a:t>trở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 err="1"/>
                  <a:t>Để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thuận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việc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lý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tính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toán</a:t>
                </a:r>
                <a:r>
                  <a:rPr lang="en-US" sz="2400" dirty="0"/>
                  <a:t>, ta </a:t>
                </a:r>
                <a:r>
                  <a:rPr lang="en-US" sz="2400" dirty="0" err="1"/>
                  <a:t>thường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dụng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log likelihood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tổng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vế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vế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mẫu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dữ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liệu</a:t>
                </a:r>
                <a:r>
                  <a:rPr lang="en-US" sz="2400" dirty="0"/>
                  <a:t>.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chr m:val="∏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245D153-C432-EF1F-5C6A-7E99EAE0423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7750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r="-8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ED043F25-ECE7-BBC1-9DDD-361B1AB1CB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49CF0D8F-AA9B-882C-BA97-589D0A16F3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749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2873BC16-C940-B4A3-D881-28CC5164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3529C1BB-AB98-6B69-E40D-EB46C621E8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9161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C177ADB5-9464-EB05-B656-9389F0A3EA2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7750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/>
                  <a:t>Ước </a:t>
                </a:r>
                <a:r>
                  <a:rPr lang="en-US" sz="2400" dirty="0" err="1"/>
                  <a:t>lượng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lý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cực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đại</a:t>
                </a:r>
                <a:r>
                  <a:rPr lang="en-US" sz="2400" dirty="0"/>
                  <a:t> (MLE)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biến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đổi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/>
                  <a:t>Do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thuật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toán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ưu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công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cụ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máy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thường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cài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đặt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cực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tiểu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mất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mát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mục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tiêu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có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định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nghĩa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negative log likelihood (NLL)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400" dirty="0" err="1"/>
                  <a:t>Cực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tiểu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NLL </a:t>
                </a:r>
                <a:r>
                  <a:rPr lang="en-US" sz="2400" dirty="0" err="1"/>
                  <a:t>tương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đương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MLE: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𝑁𝐿𝐿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C177ADB5-9464-EB05-B656-9389F0A3EA2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7750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164" r="-8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13FD0C7D-96EB-5C7E-EFB4-6EA6A32C49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BD6A28B-62E9-2FC9-9586-6A0DCA2C34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194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9940CAF-908D-2B0A-CE0E-A1246952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>
            <a:extLst>
              <a:ext uri="{FF2B5EF4-FFF2-40B4-BE49-F238E27FC236}">
                <a16:creationId xmlns:a16="http://schemas.microsoft.com/office/drawing/2014/main" id="{2F7923F8-8A72-62F7-8BBE-DF546FD1D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 dirty="0"/>
              <a:t>MLE VỚI CÁC PHÂN PHỐI XÁC SUẤT</a:t>
            </a:r>
            <a:endParaRPr dirty="0"/>
          </a:p>
        </p:txBody>
      </p:sp>
      <p:sp>
        <p:nvSpPr>
          <p:cNvPr id="364" name="Google Shape;364;p4">
            <a:extLst>
              <a:ext uri="{FF2B5EF4-FFF2-40B4-BE49-F238E27FC236}">
                <a16:creationId xmlns:a16="http://schemas.microsoft.com/office/drawing/2014/main" id="{5E00AB21-4291-8031-0373-41671F56EFC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MLE FOR PROBABILITY DISTRIBUTIONS</a:t>
            </a:r>
            <a:endParaRPr dirty="0"/>
          </a:p>
        </p:txBody>
      </p:sp>
      <p:sp>
        <p:nvSpPr>
          <p:cNvPr id="365" name="Google Shape;365;p4">
            <a:extLst>
              <a:ext uri="{FF2B5EF4-FFF2-40B4-BE49-F238E27FC236}">
                <a16:creationId xmlns:a16="http://schemas.microsoft.com/office/drawing/2014/main" id="{FF357834-E9E0-3D08-4704-A3C829F879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>
            <a:extLst>
              <a:ext uri="{FF2B5EF4-FFF2-40B4-BE49-F238E27FC236}">
                <a16:creationId xmlns:a16="http://schemas.microsoft.com/office/drawing/2014/main" id="{CBF6C504-1F30-0F2F-9273-E001EB13D4A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>
            <a:extLst>
              <a:ext uri="{FF2B5EF4-FFF2-40B4-BE49-F238E27FC236}">
                <a16:creationId xmlns:a16="http://schemas.microsoft.com/office/drawing/2014/main" id="{6AFDA37B-2910-5642-F9CA-BA29588E492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>
            <a:extLst>
              <a:ext uri="{FF2B5EF4-FFF2-40B4-BE49-F238E27FC236}">
                <a16:creationId xmlns:a16="http://schemas.microsoft.com/office/drawing/2014/main" id="{AD008466-759B-76DF-3C34-6C0E124D9E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5345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D6CACFFB-4065-FFBC-186F-4B913D37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897EA1F9-2AAE-C376-524C-894DEC04C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9161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MLE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Bernoulli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3508EB6-58C1-4EB4-DBCC-C5DE18E1EB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3" y="841413"/>
                <a:ext cx="7544852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Một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biến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ngẫu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sz="2000" dirty="0">
                    <a:solidFill>
                      <a:schemeClr val="tx1"/>
                    </a:solidFill>
                  </a:rPr>
                  <a:t> (random variable) Bernoulli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nhận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trong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hai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err="1">
                    <a:solidFill>
                      <a:schemeClr val="tx1"/>
                    </a:solidFill>
                  </a:rPr>
                  <a:t>thể</a:t>
                </a:r>
                <a:r>
                  <a:rPr lang="en-US" sz="2000">
                    <a:solidFill>
                      <a:schemeClr val="tx1"/>
                    </a:solidFill>
                  </a:rPr>
                  <a:t> ký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hiệu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000" dirty="0">
                    <a:solidFill>
                      <a:schemeClr val="tx1"/>
                    </a:solidFill>
                  </a:rPr>
                  <a:t> 0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000" dirty="0">
                    <a:solidFill>
                      <a:schemeClr val="tx1"/>
                    </a:solidFill>
                  </a:rPr>
                  <a:t> 1,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hóa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thực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nghiệm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yếu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tố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ngẫu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hai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kết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cục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xảy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ra</a:t>
                </a:r>
                <a:r>
                  <a:rPr lang="en-US" sz="2000" dirty="0">
                    <a:solidFill>
                      <a:schemeClr val="tx1"/>
                    </a:solidFill>
                  </a:rPr>
                  <a:t> (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thường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gọi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000" dirty="0">
                    <a:solidFill>
                      <a:schemeClr val="tx1"/>
                    </a:solidFill>
                  </a:rPr>
                  <a:t> “</a:t>
                </a:r>
                <a:r>
                  <a:rPr lang="en-US" sz="2000" i="1" dirty="0" err="1">
                    <a:solidFill>
                      <a:schemeClr val="tx1"/>
                    </a:solidFill>
                  </a:rPr>
                  <a:t>thành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dirty="0" err="1">
                    <a:solidFill>
                      <a:schemeClr val="tx1"/>
                    </a:solidFill>
                  </a:rPr>
                  <a:t>công</a:t>
                </a:r>
                <a:r>
                  <a:rPr lang="en-US" sz="2000" dirty="0">
                    <a:solidFill>
                      <a:schemeClr val="tx1"/>
                    </a:solidFill>
                  </a:rPr>
                  <a:t>”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hoặc</a:t>
                </a:r>
                <a:r>
                  <a:rPr lang="en-US" sz="2000" dirty="0">
                    <a:solidFill>
                      <a:schemeClr val="tx1"/>
                    </a:solidFill>
                  </a:rPr>
                  <a:t> “</a:t>
                </a:r>
                <a:r>
                  <a:rPr lang="en-US" sz="2000" i="1" dirty="0" err="1">
                    <a:solidFill>
                      <a:schemeClr val="tx1"/>
                    </a:solidFill>
                  </a:rPr>
                  <a:t>thất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dirty="0" err="1">
                    <a:solidFill>
                      <a:schemeClr val="tx1"/>
                    </a:solidFill>
                  </a:rPr>
                  <a:t>bại</a:t>
                </a:r>
                <a:r>
                  <a:rPr lang="en-US" sz="2000" dirty="0">
                    <a:solidFill>
                      <a:schemeClr val="tx1"/>
                    </a:solidFill>
                  </a:rPr>
                  <a:t>”).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0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520700" lvl="0" indent="-342900">
                  <a:lnSpc>
                    <a:spcPct val="114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>
                    <a:solidFill>
                      <a:schemeClr val="tx1"/>
                    </a:solidFill>
                  </a:rPr>
                  <a:t>Tung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sz="2000" dirty="0">
                    <a:solidFill>
                      <a:schemeClr val="tx1"/>
                    </a:solidFill>
                  </a:rPr>
                  <a:t> xu.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Kết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cục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0072FF"/>
                    </a:solidFill>
                  </a:rPr>
                  <a:t>mặt</a:t>
                </a:r>
                <a:r>
                  <a:rPr lang="en-US" sz="2000" dirty="0">
                    <a:solidFill>
                      <a:srgbClr val="0072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0072FF"/>
                    </a:solidFill>
                  </a:rPr>
                  <a:t>ngửa</a:t>
                </a:r>
                <a:r>
                  <a:rPr lang="en-US" sz="2000" dirty="0">
                    <a:solidFill>
                      <a:srgbClr val="0072FF"/>
                    </a:solidFill>
                  </a:rPr>
                  <a:t> (heads)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hoặc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mặt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xấp</a:t>
                </a:r>
                <a:r>
                  <a:rPr lang="en-US" sz="2000" dirty="0">
                    <a:solidFill>
                      <a:srgbClr val="FF0000"/>
                    </a:solidFill>
                  </a:rPr>
                  <a:t> (tails)</a:t>
                </a:r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lvl="0" indent="-342900">
                  <a:lnSpc>
                    <a:spcPct val="114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tx1"/>
                    </a:solidFill>
                  </a:rPr>
                  <a:t>Tham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gia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kỳ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thi</a:t>
                </a:r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Kết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cục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err="1">
                    <a:solidFill>
                      <a:schemeClr val="tx1"/>
                    </a:solidFill>
                  </a:rPr>
                  <a:t>là</a:t>
                </a:r>
                <a:r>
                  <a:rPr lang="en-US" sz="2000">
                    <a:solidFill>
                      <a:schemeClr val="tx1"/>
                    </a:solidFill>
                  </a:rPr>
                  <a:t> </a:t>
                </a:r>
                <a:r>
                  <a:rPr lang="en-US" sz="2000">
                    <a:solidFill>
                      <a:srgbClr val="0072FF"/>
                    </a:solidFill>
                  </a:rPr>
                  <a:t>đậu </a:t>
                </a:r>
                <a:r>
                  <a:rPr lang="en-US" sz="2000" dirty="0">
                    <a:solidFill>
                      <a:srgbClr val="0072FF"/>
                    </a:solidFill>
                  </a:rPr>
                  <a:t>(pass)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err="1">
                    <a:solidFill>
                      <a:schemeClr val="tx1"/>
                    </a:solidFill>
                  </a:rPr>
                  <a:t>hoặc</a:t>
                </a:r>
                <a:r>
                  <a:rPr lang="en-US" sz="2000">
                    <a:solidFill>
                      <a:schemeClr val="tx1"/>
                    </a:solidFill>
                  </a:rPr>
                  <a:t> </a:t>
                </a:r>
                <a:r>
                  <a:rPr lang="en-US" sz="2000">
                    <a:solidFill>
                      <a:srgbClr val="FF0000"/>
                    </a:solidFill>
                  </a:rPr>
                  <a:t>rớt </a:t>
                </a:r>
                <a:r>
                  <a:rPr lang="en-US" sz="2000" dirty="0">
                    <a:solidFill>
                      <a:srgbClr val="FF0000"/>
                    </a:solidFill>
                  </a:rPr>
                  <a:t>(fail)</a:t>
                </a:r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lvl="0" indent="-342900">
                  <a:lnSpc>
                    <a:spcPct val="114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lớp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bức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bức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lớp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thành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lớp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0072FF"/>
                    </a:solidFill>
                  </a:rPr>
                  <a:t>mèo</a:t>
                </a:r>
                <a:r>
                  <a:rPr lang="en-US" sz="2000" dirty="0">
                    <a:solidFill>
                      <a:srgbClr val="0072FF"/>
                    </a:solidFill>
                  </a:rPr>
                  <a:t> (cat)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hoặc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lớp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err="1">
                    <a:solidFill>
                      <a:srgbClr val="FF0000"/>
                    </a:solidFill>
                  </a:rPr>
                  <a:t>không</a:t>
                </a:r>
                <a:r>
                  <a:rPr lang="en-US" sz="2000">
                    <a:solidFill>
                      <a:srgbClr val="FF0000"/>
                    </a:solidFill>
                  </a:rPr>
                  <a:t> chứa mèo </a:t>
                </a:r>
                <a:r>
                  <a:rPr lang="en-US" sz="2000" dirty="0">
                    <a:solidFill>
                      <a:srgbClr val="FF0000"/>
                    </a:solidFill>
                  </a:rPr>
                  <a:t>(non-cat)</a:t>
                </a:r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Một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biến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ngẫu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biến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ngẫu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sz="2000" dirty="0">
                    <a:solidFill>
                      <a:schemeClr val="tx1"/>
                    </a:solidFill>
                  </a:rPr>
                  <a:t> Bernoulli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rgbClr val="FF00FF"/>
                    </a:solidFill>
                  </a:rPr>
                  <a:t>tham </a:t>
                </a:r>
                <a:r>
                  <a:rPr lang="en-US" sz="2000" dirty="0" err="1">
                    <a:solidFill>
                      <a:srgbClr val="FF00FF"/>
                    </a:solidFill>
                  </a:rPr>
                  <a:t>số</a:t>
                </a:r>
                <a:r>
                  <a:rPr lang="en-US" sz="2000" dirty="0">
                    <a:solidFill>
                      <a:srgbClr val="FF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biểu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diễn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𝐵𝑒𝑟𝑛𝑜𝑢𝑙𝑙𝑖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khối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xác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suất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nó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dạng</a:t>
                </a:r>
                <a:r>
                  <a:rPr lang="en-US" sz="20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228600" lvl="0" indent="-5080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      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&amp;1−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228600" lvl="0" indent="-50800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228600" lvl="0" indent="-50800" algn="l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3508EB6-58C1-4EB4-DBCC-C5DE18E1EB7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3" y="841413"/>
                <a:ext cx="7544852" cy="5763924"/>
              </a:xfrm>
              <a:prstGeom prst="rect">
                <a:avLst/>
              </a:prstGeom>
              <a:blipFill>
                <a:blip r:embed="rId3"/>
                <a:stretch>
                  <a:fillRect t="-2008" r="-8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72E621BB-B1A8-3AF0-8B99-697A73C820E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1E942C96-71F8-9C66-02C9-2B445A47EB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10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5F70FE7-65C9-1B85-A9DE-DED1A33B0F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81730" y="917253"/>
            <a:ext cx="4310270" cy="276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4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0485419-4F20-499F-5EA8-A324E11B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7E271ADE-0D8F-B48A-9FE6-FE1F5E9DC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phân phối Bernoulli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BF9AD33-B79D-ADCC-9EF6-75C1F5D342C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/>
                  <a:t>Giả sử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là một biến ngẫu nhiên biểu diễn kết quả khi tung một đồng xu.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/>
                  <a:t>Biến cố (event)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tương ứng với trường hợp mặt ngửa (heads), và biến cố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tương ứng với trường hợp mặt xấp (tails).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/>
                  <a:t>Biến ngẫu nhiên này tuân theo phân phối Bernoulli. Hàm </a:t>
                </a:r>
                <a:r>
                  <a:rPr lang="en-US" sz="2200">
                    <a:solidFill>
                      <a:srgbClr val="FF00FF"/>
                    </a:solidFill>
                  </a:rPr>
                  <a:t>negative log likelihood (NLL) </a:t>
                </a:r>
                <a:r>
                  <a:rPr lang="en-US" sz="2200"/>
                  <a:t>cho tham số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/>
                  <a:t> của phân phối Bernoulli với kết quả từ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lần tung đồng xu là: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  <m:d>
                                    <m:d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sup>
                              </m:sSup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nary>
                        </m:e>
                      </m:func>
                    </m:oMath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=−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20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200"/>
                  <a:t> là số lần </a:t>
                </a:r>
                <a:r>
                  <a:rPr lang="en-US" sz="2200">
                    <a:solidFill>
                      <a:srgbClr val="0072FF"/>
                    </a:solidFill>
                  </a:rPr>
                  <a:t>mặt ngửa (heads) </a:t>
                </a:r>
                <a:r>
                  <a:rPr lang="en-US" sz="2200"/>
                  <a:t>xuất hiện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200"/>
                  <a:t> là số lần </a:t>
                </a:r>
                <a:r>
                  <a:rPr lang="en-US" sz="2200">
                    <a:solidFill>
                      <a:srgbClr val="FF0000"/>
                    </a:solidFill>
                  </a:rPr>
                  <a:t>mặt xấp (tails)</a:t>
                </a:r>
                <a:r>
                  <a:rPr lang="en-US" sz="2200"/>
                  <a:t> xuất hiện.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là kích thước mẫu (sample size).</a:t>
                </a:r>
                <a:endParaRPr lang="en-US" sz="22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BF9AD33-B79D-ADCC-9EF6-75C1F5D342C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586" r="-694" b="-1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D15BE418-6587-36B7-CE3A-BF0F7E21D84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79A1EB3C-7009-1CED-5544-C069B23C8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082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A032C41-64C3-7EAC-148C-9D0B935A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D1EBA73D-C317-8704-1118-2EFC618F4E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phân phối Bernoulli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51A2BD27-BA25-B995-BA56-D0FB26A1226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200">
                  <a:ea typeface="Cambria Math" panose="02040503050406030204" pitchFamily="18" charset="0"/>
                </a:endParaRP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Đạo hàm của hàm NLL theo tham số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/>
                  <a:t> là: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20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200">
                    <a:solidFill>
                      <a:srgbClr val="FF00FF"/>
                    </a:solidFill>
                  </a:rPr>
                  <a:t>Ước lượng hợp lý cực đại (MLE) </a:t>
                </a:r>
                <a:r>
                  <a:rPr lang="en-US" sz="2200"/>
                  <a:t>cho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/>
                  <a:t> có thể được tính bằng cách giải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𝑁𝐿𝐿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/>
                  <a:t>.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>
                  <a:ea typeface="Cambria Math" panose="02040503050406030204" pitchFamily="18" charset="0"/>
                </a:endParaRPr>
              </a:p>
              <a:p>
                <a:pPr marL="177800" indent="0" algn="l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200">
                    <a:ea typeface="Cambria Math" panose="02040503050406030204" pitchFamily="18" charset="0"/>
                  </a:rPr>
                  <a:t>Ước lượng hợp lý cực đại (MLE) được tính bởi:</a:t>
                </a:r>
              </a:p>
              <a:p>
                <a:pPr marL="177800" indent="0" algn="l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</m:t>
                          </m:r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/>
              </a:p>
              <a:p>
                <a:pPr marL="177800" indent="0" algn="l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200"/>
              </a:p>
              <a:p>
                <a:pPr marL="177800" indent="0" algn="l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Chính là số lần mặt ngửa (heads) xuất hiện trong thực nghiệm tung đồng xu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/>
                  <a:t> lần.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51A2BD27-BA25-B995-BA56-D0FB26A1226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7C82E7B2-2F3D-997E-2E82-B8C7F6C8E6D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C37D57A1-5D67-3742-9037-4CA0DC03AB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72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CE8ED70D-ED3E-71F3-D199-017F0C47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36AA6E60-025A-B480-1408-F91377ED96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phân phối phân loại (categorical)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4C7BD911-A839-0CA4-8295-A42D21A03FD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Giả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sử</a:t>
                </a:r>
                <a:r>
                  <a:rPr lang="en-US" sz="2200" dirty="0"/>
                  <a:t> ta tung </a:t>
                </a:r>
                <a:r>
                  <a:rPr lang="en-US" sz="2200" dirty="0" err="1"/>
                  <a:t>một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xúc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xắc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mặt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lần</a:t>
                </a:r>
                <a:r>
                  <a:rPr lang="en-US" sz="2200" dirty="0"/>
                  <a:t>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Gọi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biến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{1,…,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biểu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diễn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kết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cục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lần</a:t>
                </a:r>
                <a:r>
                  <a:rPr lang="en-US" sz="2200" dirty="0"/>
                  <a:t> tung </a:t>
                </a:r>
                <a:r>
                  <a:rPr lang="en-US" sz="2200" dirty="0" err="1"/>
                  <a:t>thứ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dirty="0"/>
                  <a:t>. </a:t>
                </a: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biến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Categorical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tuân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theo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phối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loại</a:t>
                </a:r>
                <a:r>
                  <a:rPr lang="en-US" sz="2200" dirty="0"/>
                  <a:t> (categorical distribution).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/>
                  <a:t>Ta </a:t>
                </a:r>
                <a:r>
                  <a:rPr lang="en-US" sz="2200" dirty="0" err="1"/>
                  <a:t>muốn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ước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lượng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tham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số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phối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dựa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vào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tập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dữ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liệu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kết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cục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lần</a:t>
                </a:r>
                <a:r>
                  <a:rPr lang="en-US" sz="2200" dirty="0"/>
                  <a:t> tung.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Hàm</a:t>
                </a:r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FF00FF"/>
                    </a:solidFill>
                  </a:rPr>
                  <a:t>negative log likelihood (NLL)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:</a:t>
                </a:r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200" dirty="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sz="2200" dirty="0" err="1"/>
                  <a:t>với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số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lần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biến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cố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được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quan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sát</a:t>
                </a:r>
                <a:r>
                  <a:rPr lang="en-US" sz="2200" dirty="0"/>
                  <a:t> (</a:t>
                </a:r>
                <a:r>
                  <a:rPr lang="en-US" sz="2200" dirty="0" err="1"/>
                  <a:t>số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lần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mặt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thứ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xuất </a:t>
                </a:r>
                <a:r>
                  <a:rPr lang="en-US" sz="2200" dirty="0" err="1"/>
                  <a:t>hiện</a:t>
                </a:r>
                <a:r>
                  <a:rPr lang="en-US" sz="2200" dirty="0"/>
                  <a:t>).</a:t>
                </a:r>
              </a:p>
              <a:p>
                <a:pPr marL="520700" indent="-342900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sz="2200" dirty="0" err="1"/>
                  <a:t>Để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tính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giá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trị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ước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lượng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hợp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lý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đại</a:t>
                </a:r>
                <a:r>
                  <a:rPr lang="en-US" sz="2200" dirty="0"/>
                  <a:t>, ta </a:t>
                </a:r>
                <a:r>
                  <a:rPr lang="en-US" sz="2200" dirty="0" err="1"/>
                  <a:t>cần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tiểu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hóa</a:t>
                </a:r>
                <a:r>
                  <a:rPr lang="en-US" sz="2200" dirty="0"/>
                  <a:t> NLL </a:t>
                </a:r>
                <a:r>
                  <a:rPr lang="en-US" sz="2200" dirty="0" err="1"/>
                  <a:t>với</a:t>
                </a:r>
                <a:r>
                  <a:rPr lang="en-US" sz="2200" dirty="0"/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ràng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buộc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/>
                  <a:t>là</a:t>
                </a:r>
                <a:endParaRPr lang="en-US" sz="2200" dirty="0"/>
              </a:p>
              <a:p>
                <a:pPr marL="177800" indent="0">
                  <a:lnSpc>
                    <a:spcPct val="114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4C7BD911-A839-0CA4-8295-A42D21A03FD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586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D8FB06E-E89F-3B66-A40C-76CB5B85A6A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A8A2817C-7E2F-CE13-D0BB-5D46294F59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759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A5053F4-7065-4229-3951-D760BF8F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7E6C106-CA4A-A1A6-B01A-9C960E7F9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phân phối phân loại (categorical)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F2FC4F8E-1A22-9471-54D0-0F2A288F5EB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Ta sử dụng </a:t>
                </a:r>
                <a:r>
                  <a:rPr lang="en-US" sz="2200">
                    <a:solidFill>
                      <a:srgbClr val="FF00FF"/>
                    </a:solidFill>
                  </a:rPr>
                  <a:t>phương pháp nhân tử Lagrange (Lagrange multipliers) </a:t>
                </a:r>
                <a:r>
                  <a:rPr lang="en-US" sz="2200"/>
                  <a:t>như sau: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20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Lấy đạo hàm của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200"/>
                  <a:t> theo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/>
                  <a:t>, và đặt đạo hàm này bằng 0 sẽ cho ta </a:t>
                </a:r>
                <a:r>
                  <a:rPr lang="en-US" sz="2200">
                    <a:solidFill>
                      <a:srgbClr val="FF0000"/>
                    </a:solidFill>
                  </a:rPr>
                  <a:t>ràng buộc</a:t>
                </a:r>
                <a:r>
                  <a:rPr lang="en-US" sz="2200"/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Lấy đạo hàm theo của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200"/>
                  <a:t> theo các tham số</a:t>
                </a:r>
                <a:r>
                  <a:rPr lang="en-US" sz="220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/>
                  <a:t>, ta được: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20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Ta có thể tính giá trị của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/>
                  <a:t> dựa vào </a:t>
                </a:r>
                <a:r>
                  <a:rPr lang="en-US" sz="2200">
                    <a:solidFill>
                      <a:srgbClr val="FF0000"/>
                    </a:solidFill>
                  </a:rPr>
                  <a:t>ràng buộc tổng các xác suất bằng 1</a:t>
                </a:r>
                <a:r>
                  <a:rPr lang="en-US" sz="2200"/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20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Do đó, </a:t>
                </a:r>
                <a:r>
                  <a:rPr lang="en-US" sz="2200">
                    <a:solidFill>
                      <a:srgbClr val="FF0000"/>
                    </a:solidFill>
                  </a:rPr>
                  <a:t>ước lượng hợp lý cực đại (MLE) </a:t>
                </a:r>
                <a:r>
                  <a:rPr lang="en-US" sz="2200"/>
                  <a:t>của các tham số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/>
                  <a:t> là: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200"/>
                  <a:t>, chính là số lần mặt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/>
                  <a:t> xuất hiện trong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/>
                  <a:t> lần tung xúc xắc.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F2FC4F8E-1A22-9471-54D0-0F2A288F5EB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47D12DA5-181E-30CE-EF46-09384874DA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F89CD3E-CF7D-8EC5-ABF8-9A66F1083C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22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1FB160F4-BB60-0245-F617-B2946F41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Google Shape;373;p5">
                <a:extLst>
                  <a:ext uri="{FF2B5EF4-FFF2-40B4-BE49-F238E27FC236}">
                    <a16:creationId xmlns:a16="http://schemas.microsoft.com/office/drawing/2014/main" id="{8751CB0C-BC6B-30BD-E9AD-1BBEF3D60F39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74145" y="46642"/>
                <a:ext cx="10579655" cy="785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 fontScale="90000"/>
              </a:bodyPr>
              <a:lstStyle/>
              <a:p>
                <a:pPr marL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72FF"/>
                  </a:buClr>
                  <a:buSzPts val="4400"/>
                  <a:buFont typeface="Times New Roman"/>
                  <a:buNone/>
                </a:pPr>
                <a:r>
                  <a:rPr lang="en-US"/>
                  <a:t>Phân phối chuẩn tắc (standard normal)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b="0" dirty="0"/>
              </a:p>
            </p:txBody>
          </p:sp>
        </mc:Choice>
        <mc:Fallback xmlns="">
          <p:sp>
            <p:nvSpPr>
              <p:cNvPr id="373" name="Google Shape;373;p5">
                <a:extLst>
                  <a:ext uri="{FF2B5EF4-FFF2-40B4-BE49-F238E27FC236}">
                    <a16:creationId xmlns:a16="http://schemas.microsoft.com/office/drawing/2014/main" id="{8751CB0C-BC6B-30BD-E9AD-1BBEF3D60F3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74145" y="46642"/>
                <a:ext cx="10579655" cy="785896"/>
              </a:xfrm>
              <a:prstGeom prst="rect">
                <a:avLst/>
              </a:prstGeom>
              <a:blipFill>
                <a:blip r:embed="rId3"/>
                <a:stretch>
                  <a:fillRect l="-2074" t="-8527" b="-27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22CF0BAC-1C50-5019-1293-FBC2BA20AC8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4555349"/>
                <a:ext cx="11419019" cy="20261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22CF0BAC-1C50-5019-1293-FBC2BA20AC8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4555349"/>
                <a:ext cx="11419019" cy="20261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D8C761F2-86D0-38B0-7098-74D4728D54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3C167BF-8232-6A23-ACFD-CC7228A7D0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CAC54-5814-898D-C5F9-C62F554349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37417" y="920389"/>
            <a:ext cx="7170089" cy="3716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799EE-E5D5-6BB2-0853-E55684190D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688701" y="920389"/>
            <a:ext cx="7297457" cy="3716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EDAA64-70B0-3385-F85F-29C1A52AE8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688701" y="839191"/>
            <a:ext cx="7657083" cy="37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2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D87C6A7D-082E-BDA5-D041-59CFC696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Google Shape;373;p5">
                <a:extLst>
                  <a:ext uri="{FF2B5EF4-FFF2-40B4-BE49-F238E27FC236}">
                    <a16:creationId xmlns:a16="http://schemas.microsoft.com/office/drawing/2014/main" id="{D8200F79-DC42-AAC2-6717-CDD5BD5243FC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74145" y="46642"/>
                <a:ext cx="10745307" cy="785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 fontScale="90000"/>
              </a:bodyPr>
              <a:lstStyle/>
              <a:p>
                <a:pPr marL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72FF"/>
                  </a:buClr>
                  <a:buSzPts val="4400"/>
                  <a:buFont typeface="Times New Roman"/>
                  <a:buNone/>
                </a:pPr>
                <a:r>
                  <a:rPr lang="en-US"/>
                  <a:t>Phân phối chuẩn (normal distribution)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b="0" dirty="0"/>
              </a:p>
            </p:txBody>
          </p:sp>
        </mc:Choice>
        <mc:Fallback xmlns="">
          <p:sp>
            <p:nvSpPr>
              <p:cNvPr id="373" name="Google Shape;373;p5">
                <a:extLst>
                  <a:ext uri="{FF2B5EF4-FFF2-40B4-BE49-F238E27FC236}">
                    <a16:creationId xmlns:a16="http://schemas.microsoft.com/office/drawing/2014/main" id="{D8200F79-DC42-AAC2-6717-CDD5BD5243F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74145" y="46642"/>
                <a:ext cx="10745307" cy="785896"/>
              </a:xfrm>
              <a:prstGeom prst="rect">
                <a:avLst/>
              </a:prstGeom>
              <a:blipFill>
                <a:blip r:embed="rId3"/>
                <a:stretch>
                  <a:fillRect l="-2042" t="-8527" b="-27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8255445-71F4-E727-9597-F94698E01CA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-623576" y="4555349"/>
                <a:ext cx="11419019" cy="20261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/2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        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200"/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8255445-71F4-E727-9597-F94698E01CA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623576" y="4555349"/>
                <a:ext cx="11419019" cy="20261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4F380F6C-70E5-5630-2AAA-7AFC8BBDF3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F7FFDFE0-4D88-127F-4B72-B22C8C1E5D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16</a:t>
            </a:fld>
            <a:endParaRPr/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F2A208B8-1216-DE3F-18C2-CB584C26B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443" y="920389"/>
            <a:ext cx="7702038" cy="3716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B7881-BA83-8614-45CA-4CDDA7956E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71443" y="920389"/>
            <a:ext cx="7702038" cy="3716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3637A-FF18-8B79-5B65-9D9838A0AB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71443" y="957715"/>
            <a:ext cx="7702038" cy="356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6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7B6226C-F1AD-4180-2255-F4DC4154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68A6A47D-03DE-6E8D-0138-B37341604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MLE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(Gaussian)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A8C164C-537D-DF41-41BE-AF044342E88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 err="1"/>
                  <a:t>Biến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nhiên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chuẩn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và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một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tập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dữ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liệu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với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mẫu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dữ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liệu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độc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lập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và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cùng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phân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phối</a:t>
                </a:r>
                <a:r>
                  <a:rPr lang="en-US" sz="2200" dirty="0"/>
                  <a:t>.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200" i="1" smtClean="0">
                          <a:solidFill>
                            <a:srgbClr val="007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 smtClean="0">
                                      <a:solidFill>
                                        <a:srgbClr val="0072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200" dirty="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Ta </a:t>
                </a:r>
                <a:r>
                  <a:rPr lang="en-US" sz="2200" dirty="0" err="1"/>
                  <a:t>có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thể</a:t>
                </a:r>
                <a:r>
                  <a:rPr lang="en-US" sz="2200" dirty="0"/>
                  <a:t> </a:t>
                </a:r>
                <a:r>
                  <a:rPr lang="en-US" sz="2200" dirty="0" err="1"/>
                  <a:t>ước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lượng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giá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trị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tham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số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sử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dụng</a:t>
                </a:r>
                <a:r>
                  <a:rPr lang="en-US" sz="2200" dirty="0"/>
                  <a:t> MLE.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rgbClr val="FF00FF"/>
                    </a:solidFill>
                  </a:rPr>
                  <a:t>Hàm</a:t>
                </a:r>
                <a:r>
                  <a:rPr lang="en-US" sz="2200" dirty="0">
                    <a:solidFill>
                      <a:srgbClr val="FF00FF"/>
                    </a:solidFill>
                  </a:rPr>
                  <a:t> negative log likelihood (NLL)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tham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số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2000" i="1" smtClean="0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2000" i="1" smtClean="0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  <m:sSup>
                                            <m:sSup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22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2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2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2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2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sz="2200" b="0" i="1" smtClean="0">
                                                      <a:solidFill>
                                                        <a:schemeClr val="accent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200" dirty="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 err="1"/>
                  <a:t>Lời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giải</a:t>
                </a:r>
                <a:r>
                  <a:rPr lang="en-US" sz="2200" dirty="0"/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tiểu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hàm</a:t>
                </a:r>
                <a:r>
                  <a:rPr lang="en-US" sz="2200" dirty="0"/>
                  <a:t> NLL </a:t>
                </a:r>
                <a:r>
                  <a:rPr lang="en-US" sz="2200" dirty="0" err="1"/>
                  <a:t>cần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thỏa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mãn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điều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kiện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sau</a:t>
                </a:r>
                <a:r>
                  <a:rPr lang="en-US" sz="2200" dirty="0"/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A8C164C-537D-DF41-41BE-AF044342E88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BC73E7C7-C1E1-3736-F076-AF5AC417D0C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C96B16ED-7957-9524-F5BF-ECA3E9F5E0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108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4D25D5A4-A1BF-CB39-625F-0107BBF61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6859EBBB-3CA3-2895-25BD-B126F441B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MLE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(Gaussian)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6A8C834-FA25-B518-68C6-51613494FE7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Ước lượng hợp lý cực đại cho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/>
                  <a:t> và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/>
                  <a:t> là:</a:t>
                </a:r>
              </a:p>
              <a:p>
                <a:pPr marL="17780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200"/>
              </a:p>
              <a:p>
                <a:pPr marL="17780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solidFill>
                                <a:srgbClr val="007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 smtClean="0">
                                  <a:solidFill>
                                    <a:srgbClr val="007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0072FF"/>
                              </a:solidFill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  <m:sup>
                          <m:r>
                            <a:rPr lang="en-US" sz="2200" b="0" i="1" smtClean="0">
                              <a:solidFill>
                                <a:srgbClr val="007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MLE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MLE</m:t>
                                  </m:r>
                                </m:sub>
                                <m:sup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MLE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/>
              </a:p>
              <a:p>
                <a:pPr marL="177800" indent="0" algn="l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≜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20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Ta có thể thấy phương sai (variance)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/>
                  <a:t> được ước lượng với một công thức khác: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MLE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/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Công thức trên là một cách ước lượng khác, nhưng không phải là ước lượng hợp lý cực đại (MLE).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6A8C834-FA25-B518-68C6-51613494FE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0748D2D1-5F7D-7D92-030E-3773D1AED0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874A8DFE-FCAC-E50F-3519-35C49AADE0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59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BFC9321-099D-BF6D-3BEE-0C9B6DDA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C7067ECA-9CFB-ED5E-7CBD-02223B3E7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phân phối chuẩn – Ví dụ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F1428275-CF35-0130-7EA4-517350E20DC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3" y="817548"/>
                <a:ext cx="11523950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/>
                  <a:t>Ta có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/>
                  <a:t> điểm dữ liệu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0.5,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r>
                  <a:rPr lang="en-US" sz="2400"/>
                  <a:t> độc lập với nhau và cùng được phát sinh từ một phân phối chuẩn. Ta biết phân phối này có phương sai (variance) là 1 nhưng chưa biết được kỳ vọng (mean)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/>
                  <a:t>.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sz="2400"/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>
                    <a:solidFill>
                      <a:srgbClr val="FF00FF"/>
                    </a:solidFill>
                  </a:rPr>
                  <a:t>Hàm khả năng (likelihood):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/>
                  <a:t>Ta xét 2 trường hợp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sz="2400"/>
                  <a:t> và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sz="2400"/>
                  <a:t>. Trường hợp nào </a:t>
                </a:r>
                <a:r>
                  <a:rPr lang="en-US" sz="2400">
                    <a:solidFill>
                      <a:srgbClr val="FF0000"/>
                    </a:solidFill>
                  </a:rPr>
                  <a:t>có khả năng cao hơn</a:t>
                </a:r>
                <a:r>
                  <a:rPr lang="en-US" sz="2400"/>
                  <a:t>?</a:t>
                </a:r>
              </a:p>
              <a:p>
                <a:pPr marL="520700" indent="-342900" algn="l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/>
                  <a:t>Ta cần tìm giá trị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/>
                  <a:t> để cực đại hóa hàm khả năng: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/>
                  <a:t> được cực đại hóa.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F1428275-CF35-0130-7EA4-517350E20DC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3" y="817548"/>
                <a:ext cx="11523950" cy="5763924"/>
              </a:xfrm>
              <a:prstGeom prst="rect">
                <a:avLst/>
              </a:prstGeom>
              <a:blipFill>
                <a:blip r:embed="rId3"/>
                <a:stretch>
                  <a:fillRect r="-7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93F15B21-A954-7BE0-B9C9-EEBA905A8A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4C67A3A-0114-AC28-579E-A6022F76E0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47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CB19E90-9F54-812A-8E83-F65BBDE7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>
            <a:extLst>
              <a:ext uri="{FF2B5EF4-FFF2-40B4-BE49-F238E27FC236}">
                <a16:creationId xmlns:a16="http://schemas.microsoft.com/office/drawing/2014/main" id="{3B33E328-7D68-0FF6-CE5F-964D08D3BE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/>
              <a:t>MLE CHO HỒI QUY TUYẾN TÍNH</a:t>
            </a:r>
            <a:endParaRPr dirty="0"/>
          </a:p>
        </p:txBody>
      </p:sp>
      <p:sp>
        <p:nvSpPr>
          <p:cNvPr id="364" name="Google Shape;364;p4">
            <a:extLst>
              <a:ext uri="{FF2B5EF4-FFF2-40B4-BE49-F238E27FC236}">
                <a16:creationId xmlns:a16="http://schemas.microsoft.com/office/drawing/2014/main" id="{8725505B-4313-F0F8-E41E-F7170A56298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MLE </a:t>
            </a:r>
            <a:r>
              <a:rPr lang="en-US"/>
              <a:t>FOR LINEAR REGRESSION</a:t>
            </a:r>
            <a:endParaRPr dirty="0"/>
          </a:p>
        </p:txBody>
      </p:sp>
      <p:sp>
        <p:nvSpPr>
          <p:cNvPr id="365" name="Google Shape;365;p4">
            <a:extLst>
              <a:ext uri="{FF2B5EF4-FFF2-40B4-BE49-F238E27FC236}">
                <a16:creationId xmlns:a16="http://schemas.microsoft.com/office/drawing/2014/main" id="{0550BD13-6AD3-A2FF-F4D2-76B8228475B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>
            <a:extLst>
              <a:ext uri="{FF2B5EF4-FFF2-40B4-BE49-F238E27FC236}">
                <a16:creationId xmlns:a16="http://schemas.microsoft.com/office/drawing/2014/main" id="{975399E9-2212-4D3C-5310-3F7AC2F70EBF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>
            <a:extLst>
              <a:ext uri="{FF2B5EF4-FFF2-40B4-BE49-F238E27FC236}">
                <a16:creationId xmlns:a16="http://schemas.microsoft.com/office/drawing/2014/main" id="{7D603F8A-C23F-45B3-1FD2-94E56DFE47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>
            <a:extLst>
              <a:ext uri="{FF2B5EF4-FFF2-40B4-BE49-F238E27FC236}">
                <a16:creationId xmlns:a16="http://schemas.microsoft.com/office/drawing/2014/main" id="{79F1666C-CAEE-1B3D-8F22-666E6B7C5C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1018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B08A4DFB-8355-2CE6-ED0D-E9AD1EBB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20B1ACFB-E1BA-534B-588B-890127DD6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10CDD322-4365-BC72-7AC5-1DFAFD682A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5316" y="4468644"/>
            <a:ext cx="11974957" cy="170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0700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 err="1"/>
              <a:t>Dự</a:t>
            </a:r>
            <a:r>
              <a:rPr lang="en-US" sz="2000" dirty="0"/>
              <a:t> </a:t>
            </a:r>
            <a:r>
              <a:rPr lang="en-US" sz="2000" dirty="0" err="1"/>
              <a:t>đoán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KHMT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Đại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tuyến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.</a:t>
            </a:r>
          </a:p>
          <a:p>
            <a:pPr marL="520700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Ta </a:t>
            </a:r>
            <a:r>
              <a:rPr lang="en-US" sz="2000" dirty="0" err="1"/>
              <a:t>thu</a:t>
            </a:r>
            <a:r>
              <a:rPr lang="en-US" sz="2000" dirty="0"/>
              <a:t> </a:t>
            </a:r>
            <a:r>
              <a:rPr lang="en-US" sz="2000" dirty="0" err="1"/>
              <a:t>thập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trước</a:t>
            </a:r>
            <a:r>
              <a:rPr lang="en-US" sz="2000" dirty="0"/>
              <a:t>. </a:t>
            </a:r>
            <a:r>
              <a:rPr lang="en-US" sz="2000" dirty="0" err="1"/>
              <a:t>Mỗi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2FF"/>
                </a:solidFill>
              </a:rPr>
              <a:t>điểm</a:t>
            </a:r>
            <a:r>
              <a:rPr lang="en-US" sz="2000" dirty="0">
                <a:solidFill>
                  <a:srgbClr val="0072FF"/>
                </a:solidFill>
              </a:rPr>
              <a:t> </a:t>
            </a:r>
            <a:r>
              <a:rPr lang="en-US" sz="2000" dirty="0" err="1">
                <a:solidFill>
                  <a:srgbClr val="0072FF"/>
                </a:solidFill>
              </a:rPr>
              <a:t>dữ</a:t>
            </a:r>
            <a:r>
              <a:rPr lang="en-US" sz="2000" dirty="0">
                <a:solidFill>
                  <a:srgbClr val="0072FF"/>
                </a:solidFill>
              </a:rPr>
              <a:t> </a:t>
            </a:r>
            <a:r>
              <a:rPr lang="en-US" sz="2000" dirty="0" err="1">
                <a:solidFill>
                  <a:srgbClr val="0072FF"/>
                </a:solidFill>
              </a:rPr>
              <a:t>liệu</a:t>
            </a:r>
            <a:r>
              <a:rPr lang="en-US" sz="2000" dirty="0">
                <a:solidFill>
                  <a:srgbClr val="0072FF"/>
                </a:solidFill>
              </a:rPr>
              <a:t> (</a:t>
            </a:r>
            <a:r>
              <a:rPr lang="en-US" sz="2000" dirty="0" err="1">
                <a:solidFill>
                  <a:srgbClr val="0072FF"/>
                </a:solidFill>
              </a:rPr>
              <a:t>màu</a:t>
            </a:r>
            <a:r>
              <a:rPr lang="en-US" sz="2000" dirty="0">
                <a:solidFill>
                  <a:srgbClr val="0072FF"/>
                </a:solidFill>
              </a:rPr>
              <a:t> </a:t>
            </a:r>
            <a:r>
              <a:rPr lang="en-US" sz="2000" dirty="0" err="1">
                <a:solidFill>
                  <a:srgbClr val="0072FF"/>
                </a:solidFill>
              </a:rPr>
              <a:t>xanh</a:t>
            </a:r>
            <a:r>
              <a:rPr lang="en-US" sz="2000" dirty="0">
                <a:solidFill>
                  <a:srgbClr val="0072FF"/>
                </a:solidFill>
              </a:rPr>
              <a:t>)</a:t>
            </a:r>
            <a:r>
              <a:rPr lang="en-US" sz="2000" dirty="0"/>
              <a:t>.</a:t>
            </a:r>
          </a:p>
          <a:p>
            <a:pPr marL="520700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b="1" i="1" dirty="0" err="1"/>
              <a:t>Trục</a:t>
            </a:r>
            <a:r>
              <a:rPr lang="en-US" sz="2000" b="1" i="1" dirty="0"/>
              <a:t> </a:t>
            </a:r>
            <a:r>
              <a:rPr lang="en-US" sz="2000" b="1" i="1" dirty="0" err="1"/>
              <a:t>hoành</a:t>
            </a:r>
            <a:r>
              <a:rPr lang="en-US" sz="2000" dirty="0"/>
              <a:t>: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môn</a:t>
            </a:r>
            <a:r>
              <a:rPr lang="en-US" sz="2000" dirty="0"/>
              <a:t> </a:t>
            </a:r>
            <a:r>
              <a:rPr lang="en-US" sz="2000" dirty="0" err="1"/>
              <a:t>Đại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tuyến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. </a:t>
            </a:r>
            <a:r>
              <a:rPr lang="en-US" sz="2000" b="1" i="1" dirty="0" err="1"/>
              <a:t>Trục</a:t>
            </a:r>
            <a:r>
              <a:rPr lang="en-US" sz="2000" b="1" i="1" dirty="0"/>
              <a:t> tung</a:t>
            </a:r>
            <a:r>
              <a:rPr lang="en-US" sz="2000" dirty="0"/>
              <a:t>: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môn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KHMT.</a:t>
            </a:r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5FA1117B-164D-C115-FC00-9BA8F59F8C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254DA0AB-B509-C7EB-1200-C75076CFF2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4EF94F-E5D2-8367-6665-04321F0E6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75203" y="424627"/>
            <a:ext cx="4745020" cy="35603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1E35B74-BE96-473B-BC90-B28A4BE3C283}"/>
              </a:ext>
            </a:extLst>
          </p:cNvPr>
          <p:cNvSpPr/>
          <p:nvPr/>
        </p:nvSpPr>
        <p:spPr>
          <a:xfrm>
            <a:off x="3887104" y="530351"/>
            <a:ext cx="576197" cy="3454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4C7BF6-C7BC-3D3D-BF9D-0DA29ECE865F}"/>
              </a:ext>
            </a:extLst>
          </p:cNvPr>
          <p:cNvSpPr/>
          <p:nvPr/>
        </p:nvSpPr>
        <p:spPr>
          <a:xfrm rot="5400000">
            <a:off x="6259614" y="2007940"/>
            <a:ext cx="576197" cy="4165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46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67DFB31C-FF76-E562-9F75-CDC48A03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A4AAE7A-89D9-6B4D-ABE2-07F02AA5F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hồi quy tuyến 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4F1EBDFE-08FF-1C93-52B7-07CB09CD211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0016" y="817548"/>
                <a:ext cx="11361956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/>
                  <a:t>Ta có thể cài đặt các tham số của phân phối chuẩn thành dạng các hàm số với các đặc trưng đầu vào của dữ liệu.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;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endChr m:val="|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0">
                  <a:ea typeface="Cambria Math" panose="02040503050406030204" pitchFamily="18" charset="0"/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>
                    <a:solidFill>
                      <a:srgbClr val="FF0000"/>
                    </a:solidFill>
                  </a:rPr>
                  <a:t>dự đoán giá trị kỳ vọng (mean)</a:t>
                </a:r>
                <a:r>
                  <a:rPr lang="en-US" sz="2200"/>
                  <a:t>, và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>
                    <a:solidFill>
                      <a:srgbClr val="0072FF"/>
                    </a:solidFill>
                  </a:rPr>
                  <a:t>dự đoán phương sai (variance)</a:t>
                </a:r>
                <a:r>
                  <a:rPr lang="en-US" sz="2200"/>
                  <a:t>.</a:t>
                </a:r>
                <a:endParaRPr lang="en-US" sz="2200" dirty="0"/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/>
                  <a:t>Để đơn giản, ta có thể giả định </a:t>
                </a:r>
                <a:r>
                  <a:rPr lang="en-US" sz="2200">
                    <a:solidFill>
                      <a:srgbClr val="0072FF"/>
                    </a:solidFill>
                  </a:rPr>
                  <a:t>phương sai (variance) </a:t>
                </a:r>
                <a:r>
                  <a:rPr lang="en-US" sz="2200"/>
                  <a:t>có giá trị cố định (fixed) và độc lập với các đặc trưng đầu vào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/>
                  <a:t>. Do đó, ta chỉ cần dự đoán giá trị kỳ vọng.</a:t>
                </a:r>
                <a:endParaRPr lang="en-US" sz="2200" b="1" dirty="0"/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/>
                  <a:t>Ta cũng có thể giả định </a:t>
                </a:r>
                <a:r>
                  <a:rPr lang="en-US" sz="2200">
                    <a:solidFill>
                      <a:srgbClr val="FF0000"/>
                    </a:solidFill>
                  </a:rPr>
                  <a:t>kỳ vọng (mean) </a:t>
                </a:r>
                <a:r>
                  <a:rPr lang="en-US" sz="2200"/>
                  <a:t>là một </a:t>
                </a:r>
                <a:r>
                  <a:rPr lang="en-US" sz="2200" b="1"/>
                  <a:t>hàm tuyến tính </a:t>
                </a:r>
                <a:r>
                  <a:rPr lang="en-US" sz="2200"/>
                  <a:t>của các đặc trưng đầu vào. Mô hình dự đoán này được gọi là </a:t>
                </a:r>
                <a:r>
                  <a:rPr lang="en-US" sz="2200">
                    <a:solidFill>
                      <a:srgbClr val="FF00FF"/>
                    </a:solidFill>
                  </a:rPr>
                  <a:t>hồi quy tuyến tính (linear regression)</a:t>
                </a:r>
                <a:r>
                  <a:rPr lang="en-US" sz="2200"/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endChr m:val="|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với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4F1EBDFE-08FF-1C93-52B7-07CB09CD211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0016" y="817548"/>
                <a:ext cx="11361956" cy="5763924"/>
              </a:xfrm>
              <a:prstGeom prst="rect">
                <a:avLst/>
              </a:prstGeom>
              <a:blipFill>
                <a:blip r:embed="rId3"/>
                <a:stretch>
                  <a:fillRect r="-751" b="-3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57ABD3EC-779C-028B-92FE-21CFEDDD656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20AAF353-7EA7-3223-997D-168AF8BD51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061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34FDED86-3E36-195D-0D6B-89ABA959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8545065-F31E-CB44-5E9D-B7AF082544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-42809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hồi quy tuyến 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1F3B81C-0583-02A9-9EA6-BDAD22F0916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0016" y="5100638"/>
                <a:ext cx="11361956" cy="1480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/>
                  <a:t>Hình vẽ minh họa khoảng dự đoán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/>
                  <a:t>Khoảng giá trị này thể hiện sự không chắc chắn (uncertainty) trong việc dự đoán quan sát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/>
                  <a:t> với giá trị đặc trưng đầu vào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/>
                  <a:t>, thể hiện sự biến thiên của các điểm dữ liệu (màu xanh).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1F3B81C-0583-02A9-9EA6-BDAD22F0916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0016" y="5100638"/>
                <a:ext cx="11361956" cy="1480833"/>
              </a:xfrm>
              <a:prstGeom prst="rect">
                <a:avLst/>
              </a:prstGeom>
              <a:blipFill>
                <a:blip r:embed="rId3"/>
                <a:stretch>
                  <a:fillRect t="-2881" r="-54" b="-24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85719E53-9879-3F7F-3C3C-492919F80A5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5757158-8D7F-E6BB-4638-D6D73EAC1F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EB41C9-A6B3-6C54-0DFA-22D1665D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75202" y="612469"/>
            <a:ext cx="4745020" cy="3560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374;p5">
                <a:extLst>
                  <a:ext uri="{FF2B5EF4-FFF2-40B4-BE49-F238E27FC236}">
                    <a16:creationId xmlns:a16="http://schemas.microsoft.com/office/drawing/2014/main" id="{0D147233-6D1B-2DCB-F727-8F2FB9E210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10" y="4445151"/>
                <a:ext cx="10825324" cy="6597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810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556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7780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000"/>
                  <a:t>Hồi quy tuyến tính dự đoán giá trị đích tuân phân phối chuẩn với </a:t>
                </a:r>
                <a:br>
                  <a:rPr lang="en-US" sz="2000"/>
                </a:br>
                <a:r>
                  <a:rPr lang="en-US" sz="2000">
                    <a:solidFill>
                      <a:srgbClr val="FF0000"/>
                    </a:solidFill>
                  </a:rPr>
                  <a:t>kỳ vọng (mean)</a:t>
                </a:r>
                <a:r>
                  <a:rPr lang="en-US" sz="200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>
                    <a:solidFill>
                      <a:srgbClr val="FF0000"/>
                    </a:solidFill>
                  </a:rPr>
                  <a:t> </a:t>
                </a:r>
                <a:r>
                  <a:rPr lang="en-US" sz="2000"/>
                  <a:t>và </a:t>
                </a:r>
                <a:r>
                  <a:rPr lang="en-US" sz="2000">
                    <a:solidFill>
                      <a:schemeClr val="accent6"/>
                    </a:solidFill>
                  </a:rPr>
                  <a:t>phương sai (variance)</a:t>
                </a:r>
                <a:r>
                  <a:rPr lang="en-US" sz="20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/>
                  <a:t>.</a:t>
                </a:r>
              </a:p>
            </p:txBody>
          </p:sp>
        </mc:Choice>
        <mc:Fallback xmlns="">
          <p:sp>
            <p:nvSpPr>
              <p:cNvPr id="3" name="Google Shape;374;p5">
                <a:extLst>
                  <a:ext uri="{FF2B5EF4-FFF2-40B4-BE49-F238E27FC236}">
                    <a16:creationId xmlns:a16="http://schemas.microsoft.com/office/drawing/2014/main" id="{0D147233-6D1B-2DCB-F727-8F2FB9E21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0" y="4445151"/>
                <a:ext cx="10825324" cy="659708"/>
              </a:xfrm>
              <a:prstGeom prst="rect">
                <a:avLst/>
              </a:prstGeom>
              <a:blipFill>
                <a:blip r:embed="rId5"/>
                <a:stretch>
                  <a:fillRect t="-3704" b="-24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3440D6-2D79-AF3A-22CE-2F90FEBA3BD7}"/>
              </a:ext>
            </a:extLst>
          </p:cNvPr>
          <p:cNvSpPr/>
          <p:nvPr/>
        </p:nvSpPr>
        <p:spPr>
          <a:xfrm rot="5400000">
            <a:off x="6378884" y="2105783"/>
            <a:ext cx="576197" cy="4165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AD8EEA-AFE8-C906-C03C-284684AFC60E}"/>
              </a:ext>
            </a:extLst>
          </p:cNvPr>
          <p:cNvSpPr/>
          <p:nvPr/>
        </p:nvSpPr>
        <p:spPr>
          <a:xfrm>
            <a:off x="3887103" y="796823"/>
            <a:ext cx="576197" cy="3454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05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16C51FA3-26DB-75B8-EF99-5766E791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0714EFE-6D30-BA73-1538-EB81BFCB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hồi quy tuyến 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2D59F0BF-9D47-3117-CA65-140CD2BD52C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Mô hình hồi quy tuyến tính</a:t>
                </a:r>
                <a:endParaRPr lang="en-US" sz="2200" dirty="0"/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endChr m:val="|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>
                    <a:ea typeface="Cambria Math" panose="02040503050406030204" pitchFamily="18" charset="0"/>
                  </a:rPr>
                  <a:t>với</a:t>
                </a:r>
                <a:r>
                  <a:rPr lang="en-US" sz="2200" b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và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Giả sử phương sai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/>
                  <a:t>là cố định, ta chỉ cần ước lượng giá trị các tham số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200"/>
                  <a:t>. Hàm </a:t>
                </a:r>
                <a:r>
                  <a:rPr lang="en-US" sz="2200">
                    <a:solidFill>
                      <a:srgbClr val="FF00FF"/>
                    </a:solidFill>
                  </a:rPr>
                  <a:t>negative log likelihood (NLL)</a:t>
                </a:r>
                <a:r>
                  <a:rPr lang="en-US" sz="2200"/>
                  <a:t> của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200" dirty="0"/>
                  <a:t> là: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200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200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  <m:sSup>
                                            <m:sSupPr>
                                              <m:ctrlPr>
                                                <a:rPr lang="en-US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2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2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200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2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𝒘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sup>
                                                  </m:sSup>
                                                  <m:sSub>
                                                    <m:sSubPr>
                                                      <m:ctrlPr>
                                                        <a:rPr lang="en-US" sz="220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200" b="1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2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br>
                  <a:rPr lang="en-US" sz="2200" b="0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2200" dirty="0"/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/>
                  <a:t>Sau khi đơn giản biểu thức trên và loại bỏ các hằng số không quan trọng, ta có công thức tương đương với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NLL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/>
                  <a:t>chính là hàm </a:t>
                </a:r>
                <a:r>
                  <a:rPr lang="en-US" sz="2200">
                    <a:solidFill>
                      <a:srgbClr val="FF00FF"/>
                    </a:solidFill>
                  </a:rPr>
                  <a:t>tổng phần dư bình phương </a:t>
                </a:r>
                <a:r>
                  <a:rPr lang="en-US" sz="2200"/>
                  <a:t>(residual sum of squares – RSS):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200" dirty="0"/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200"/>
                  <a:t>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là sai số phần dư của điểm dữ liệu thứ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2D59F0BF-9D47-3117-CA65-140CD2BD52C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483F8AB3-A91A-F457-905E-9E1DBD76BA2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FDDB2BA2-E966-819A-1EC3-952B219AE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6983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CE8DDA43-C1AF-137A-3F37-08370CCA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C3418AB3-26F6-0711-9664-EF7FB9EB2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hồi quy tuyến 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179D441-5C26-3054-4266-011B2D3047A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chemeClr val="accent1"/>
                    </a:solidFill>
                  </a:rPr>
                  <a:t>Tổng phần dư bình phương </a:t>
                </a:r>
                <a:r>
                  <a:rPr lang="en-US" sz="2200"/>
                  <a:t>(residual sum of squares – RSS):</a:t>
                </a:r>
                <a:endParaRPr lang="en-US" sz="2200" dirty="0"/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chemeClr val="accent1"/>
                    </a:solidFill>
                  </a:rPr>
                  <a:t>Sai số bình phương trung bình </a:t>
                </a:r>
                <a:r>
                  <a:rPr lang="en-US" sz="2200"/>
                  <a:t>(mean squared error – MSE):</a:t>
                </a:r>
                <a:endParaRPr lang="en-US" sz="2200" dirty="0"/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br>
                  <a:rPr lang="en-US" sz="2200" b="0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2200" dirty="0"/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chemeClr val="accent1"/>
                    </a:solidFill>
                  </a:rPr>
                  <a:t>Căn của sai số bình phương trung bình </a:t>
                </a:r>
                <a:r>
                  <a:rPr lang="en-US" sz="2200"/>
                  <a:t>(root mean squared error – RMSE):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2200" dirty="0"/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/>
                  <a:t>Ta có thể tính </a:t>
                </a:r>
                <a:r>
                  <a:rPr lang="en-US" sz="2200">
                    <a:solidFill>
                      <a:srgbClr val="FF00FF"/>
                    </a:solidFill>
                  </a:rPr>
                  <a:t>ước lượng hợp lý cực đại </a:t>
                </a:r>
                <a:r>
                  <a:rPr lang="en-US" sz="2200"/>
                  <a:t>(MLE) bằng cách cực tiểu hóa các hàm NLL, RSS, MSE, hoặc RMSE. Tất cả đều cho cùng lời giải.</a:t>
                </a:r>
                <a:endParaRPr lang="en-US" sz="22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179D441-5C26-3054-4266-011B2D3047A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9D420FEB-B258-F3B5-809E-D03932E17C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D1359F7D-6F86-1900-5A21-87860B36D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539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1B44DD60-A2F1-19A8-ABC1-30DF17A6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1BBBA09F-3B5E-B840-AB2F-541D974F5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hồi quy tuyến 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5712C6A-7AAA-056E-A8DA-30B23BAB50F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rgbClr val="FF00FF"/>
                    </a:solidFill>
                  </a:rPr>
                  <a:t>Hàm tổng phần dư bình phương (RSS) </a:t>
                </a:r>
                <a:r>
                  <a:rPr lang="en-US" sz="2200">
                    <a:solidFill>
                      <a:schemeClr val="tx1"/>
                    </a:solidFill>
                  </a:rPr>
                  <a:t>có thể được viết thành dạng ma trận – vector:</a:t>
                </a: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𝑿𝒘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𝑿𝒘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𝑿𝒘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i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rgbClr val="FF0000"/>
                    </a:solidFill>
                  </a:rPr>
                  <a:t>Gradient</a:t>
                </a:r>
                <a:r>
                  <a:rPr lang="en-US" sz="2200">
                    <a:solidFill>
                      <a:schemeClr val="tx1"/>
                    </a:solidFill>
                  </a:rPr>
                  <a:t> của RSS là:</a:t>
                </a: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𝑿𝒘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br>
                  <a:rPr lang="en-US" sz="2200" b="0" i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chemeClr val="tx1"/>
                    </a:solidFill>
                  </a:rPr>
                  <a:t>Đặt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𝑅𝑆𝑆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200">
                    <a:solidFill>
                      <a:schemeClr val="tx1"/>
                    </a:solidFill>
                  </a:rPr>
                  <a:t> và giải, ta được: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𝑿𝒘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br>
                  <a:rPr lang="en-US" sz="2200" i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chemeClr val="tx1"/>
                    </a:solidFill>
                  </a:rPr>
                  <a:t>Đây được gọi là </a:t>
                </a:r>
                <a:r>
                  <a:rPr lang="en-US" sz="2200">
                    <a:solidFill>
                      <a:srgbClr val="FF0000"/>
                    </a:solidFill>
                  </a:rPr>
                  <a:t>Normal Equations</a:t>
                </a:r>
                <a:r>
                  <a:rPr lang="en-US" sz="220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chemeClr val="tx1"/>
                    </a:solidFill>
                  </a:rPr>
                  <a:t>Lời giải của uớc lượng hợp lý cực đại (MLE) còn được gọi là lời giải </a:t>
                </a:r>
                <a:r>
                  <a:rPr lang="en-US" sz="2200">
                    <a:solidFill>
                      <a:srgbClr val="FF00FF"/>
                    </a:solidFill>
                  </a:rPr>
                  <a:t>bình phương tối thiểu thông thường (ordinary least squares)</a:t>
                </a:r>
                <a:r>
                  <a:rPr lang="en-US" sz="220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𝑅𝑆𝑆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5712C6A-7AAA-056E-A8DA-30B23BAB50F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C41D8064-F74E-E634-461C-5CACF7AC19C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0BA663A4-5177-1DEC-15BB-4AC91B0C18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638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0EBFFD13-4CBA-71A1-7CF7-5EDCF9EA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E7C0636F-9AAA-92E2-F976-3B771DBD2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MLE cho hồi quy tuyến 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698161F6-5101-0C30-7AB1-74232D9AC7C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𝑅𝑆𝑆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</m:oMath>
                  </m:oMathPara>
                </a14:m>
                <a:endParaRPr lang="en-US" sz="2200" dirty="0">
                  <a:solidFill>
                    <a:srgbClr val="FF00FF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Đại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gọi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accent3">
                        <a:lumMod val="75000"/>
                      </a:schemeClr>
                    </a:solidFill>
                  </a:rPr>
                  <a:t>giả</a:t>
                </a:r>
                <a:r>
                  <a:rPr lang="en-US" sz="2200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accent3">
                        <a:lumMod val="75000"/>
                      </a:schemeClr>
                    </a:solidFill>
                  </a:rPr>
                  <a:t>nghịch</a:t>
                </a:r>
                <a:r>
                  <a:rPr lang="en-US" sz="2200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accent3">
                        <a:lumMod val="75000"/>
                      </a:schemeClr>
                    </a:solidFill>
                  </a:rPr>
                  <a:t>đảo</a:t>
                </a:r>
                <a:r>
                  <a:rPr lang="en-US" sz="2200" dirty="0">
                    <a:solidFill>
                      <a:schemeClr val="accent3">
                        <a:lumMod val="75000"/>
                      </a:schemeClr>
                    </a:solidFill>
                  </a:rPr>
                  <a:t> (pseudo-inverse)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ma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trận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Lời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ước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đại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mle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(unique)?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rgbClr val="FF0000"/>
                    </a:solidFill>
                  </a:rPr>
                  <a:t>Gradient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RSS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𝑅𝑆𝑆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𝑿𝒘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thì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Hessian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rgbClr val="FF00FF"/>
                    </a:solidFill>
                  </a:rPr>
                  <a:t>ma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trận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có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hạng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đầy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đủ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(full rank –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độc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tuyến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tính</a:t>
                </a:r>
                <a:r>
                  <a:rPr lang="en-US" sz="2200" dirty="0">
                    <a:solidFill>
                      <a:schemeClr val="tx1"/>
                    </a:solidFill>
                  </a:rPr>
                  <a:t>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thì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ma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trận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xác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định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dương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vì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kỳ</a:t>
                </a:r>
                <a:r>
                  <a:rPr lang="en-US" sz="2200" dirty="0">
                    <a:solidFill>
                      <a:schemeClr val="tx1"/>
                    </a:solidFill>
                  </a:rPr>
                  <a:t>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𝑿𝒗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𝑿𝒗</m:t>
                              </m:r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𝑿𝒗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𝑿𝒗</m:t>
                              </m:r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&gt;0.</m:t>
                      </m:r>
                    </m:oMath>
                  </m:oMathPara>
                </a14:m>
                <a:b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Trường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đầy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đủ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𝑅𝑆𝑆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một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lời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giải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trị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duy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nhất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698161F6-5101-0C30-7AB1-74232D9AC7C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543865B2-55C4-638D-BC57-50D23DE421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C51472A3-6D10-48A8-99EA-45DBA94B6E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44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5930713-471A-79F6-8E10-ADD8A48D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>
            <a:extLst>
              <a:ext uri="{FF2B5EF4-FFF2-40B4-BE49-F238E27FC236}">
                <a16:creationId xmlns:a16="http://schemas.microsoft.com/office/drawing/2014/main" id="{7F2D2D56-826C-003A-EC3D-3E562B941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/>
              <a:t>ƯỚC LƯỢNG HẬU NGHIỆM CỰC ĐẠI</a:t>
            </a:r>
            <a:endParaRPr dirty="0"/>
          </a:p>
        </p:txBody>
      </p:sp>
      <p:sp>
        <p:nvSpPr>
          <p:cNvPr id="364" name="Google Shape;364;p4">
            <a:extLst>
              <a:ext uri="{FF2B5EF4-FFF2-40B4-BE49-F238E27FC236}">
                <a16:creationId xmlns:a16="http://schemas.microsoft.com/office/drawing/2014/main" id="{FD8C4BD6-777F-6B8B-3428-0B122DDE956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MAXIMUM A POSTERIORI ESTIMATION</a:t>
            </a:r>
            <a:endParaRPr dirty="0"/>
          </a:p>
        </p:txBody>
      </p:sp>
      <p:sp>
        <p:nvSpPr>
          <p:cNvPr id="365" name="Google Shape;365;p4">
            <a:extLst>
              <a:ext uri="{FF2B5EF4-FFF2-40B4-BE49-F238E27FC236}">
                <a16:creationId xmlns:a16="http://schemas.microsoft.com/office/drawing/2014/main" id="{A5E3EF7A-CDD1-A115-C5C3-4DD323CC3AC4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>
            <a:extLst>
              <a:ext uri="{FF2B5EF4-FFF2-40B4-BE49-F238E27FC236}">
                <a16:creationId xmlns:a16="http://schemas.microsoft.com/office/drawing/2014/main" id="{592379C6-519B-79BB-C039-743A95E52688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>
            <a:extLst>
              <a:ext uri="{FF2B5EF4-FFF2-40B4-BE49-F238E27FC236}">
                <a16:creationId xmlns:a16="http://schemas.microsoft.com/office/drawing/2014/main" id="{00784C87-9786-5027-8DBC-67E552C114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>
            <a:extLst>
              <a:ext uri="{FF2B5EF4-FFF2-40B4-BE49-F238E27FC236}">
                <a16:creationId xmlns:a16="http://schemas.microsoft.com/office/drawing/2014/main" id="{2A6A0C83-FC3C-A33B-1F76-6E05DE8733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245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C4DF28F-ED54-6E8C-527B-3020F644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3ACABB8A-6A6A-539D-F51F-56F6061EE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/>
              <a:t>Quá khớp (overfitting)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645B51F8-074F-4C90-421B-8E83F3F6278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MLE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chọn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tham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tiểu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hóa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điều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này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không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đảm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bảo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động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tốt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tổng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quát</a:t>
                </a:r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Đây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đề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quá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khớp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b="1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: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ước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xác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suất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xu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ra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mặt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ngửa</a:t>
                </a:r>
                <a:r>
                  <a:rPr lang="en-US" sz="2200" dirty="0">
                    <a:solidFill>
                      <a:schemeClr val="tx1"/>
                    </a:solidFill>
                  </a:rPr>
                  <a:t> (heads)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khi</a:t>
                </a:r>
                <a:r>
                  <a:rPr lang="en-US" sz="2200" dirty="0">
                    <a:solidFill>
                      <a:schemeClr val="tx1"/>
                    </a:solidFill>
                  </a:rPr>
                  <a:t> tung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xu.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Ta tung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xu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cả</a:t>
                </a:r>
                <a:r>
                  <a:rPr lang="en-US" sz="2200" dirty="0">
                    <a:solidFill>
                      <a:schemeClr val="tx1"/>
                    </a:solidFill>
                  </a:rPr>
                  <a:t> 3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mặt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ngửa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đều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xuất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hiện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Ước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lượng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hợp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lý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đại</a:t>
                </a:r>
                <a:r>
                  <a:rPr lang="en-US" sz="2200" dirty="0">
                    <a:solidFill>
                      <a:srgbClr val="FF00FF"/>
                    </a:solidFill>
                  </a:rPr>
                  <a:t> (MLE)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MLE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𝐵𝑒𝑟𝑛𝑜𝑢𝑙𝑙𝑖</m:t>
                    </m:r>
                    <m:d>
                      <m:dPr>
                        <m:endChr m:val="|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MLE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này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thì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dự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đoán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xu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này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luôn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xuất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hiện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mặt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ngửa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trong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cả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 tung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trong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lai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(model)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đủ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tham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khớp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hoàn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hảo</a:t>
                </a:r>
                <a:r>
                  <a:rPr lang="en-US" sz="2200" dirty="0">
                    <a:solidFill>
                      <a:schemeClr val="tx1"/>
                    </a:solidFill>
                  </a:rPr>
                  <a:t> (perfectly fit)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quan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trùng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phân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phối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thực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0072FF"/>
                    </a:solidFill>
                  </a:rPr>
                  <a:t> (empirical distribution)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Tuy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nghiệm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thường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không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giống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hoàn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toàn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với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phân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phối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thực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(true distribution)</a:t>
                </a:r>
                <a:r>
                  <a:rPr lang="en-US" sz="2200" dirty="0">
                    <a:solidFill>
                      <a:schemeClr val="tx1"/>
                    </a:solidFill>
                  </a:rPr>
                  <a:t>. Khi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đặt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toàn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bộ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gồm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điểm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không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tổng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quát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hóa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điểm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không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trong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645B51F8-074F-4C90-421B-8E83F3F6278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817548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797" r="-694" b="-32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8F568FF5-20A6-FC8C-5005-D62AC7C832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23A3D44-F3E3-E7C3-2098-4FFE3D3A39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082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6DE13CC7-36A8-AFB8-192A-D5302FD2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7EC8038-EA7C-5C54-719C-C0310D8EC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MLE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38575EB-463D-44D0-B9E6-32B595D262C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775984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Ví </a:t>
                </a:r>
                <a:r>
                  <a:rPr lang="en-US" sz="2200" b="1" dirty="0" err="1">
                    <a:solidFill>
                      <a:srgbClr val="FF0000"/>
                    </a:solidFill>
                  </a:rPr>
                  <a:t>dụ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1: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	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rgbClr val="FF00FF"/>
                  </a:solidFill>
                  <a:ea typeface="Cambria Math" panose="02040503050406030204" pitchFamily="18" charset="0"/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rgbClr val="FF00FF"/>
                  </a:solidFill>
                  <a:ea typeface="Cambria Math" panose="02040503050406030204" pitchFamily="18" charset="0"/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38575EB-463D-44D0-B9E6-32B595D262C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775984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006AAAD-F855-CCFC-6939-B930121A62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D365763A-D396-4A2D-A034-21099B93C2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689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335DB5A-1B9E-EE3C-D8C8-4CF588D3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2139AD63-3F78-C5AE-1825-98F7F36D4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MLE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E9FE8825-85E1-EE7A-7E8A-6A1DA89296A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775984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Ví </a:t>
                </a:r>
                <a:r>
                  <a:rPr lang="en-US" sz="2200" b="1" dirty="0" err="1">
                    <a:solidFill>
                      <a:srgbClr val="FF0000"/>
                    </a:solidFill>
                  </a:rPr>
                  <a:t>dụ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2: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	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rgbClr val="FF00FF"/>
                  </a:solidFill>
                  <a:ea typeface="Cambria Math" panose="02040503050406030204" pitchFamily="18" charset="0"/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rgbClr val="FF00FF"/>
                  </a:solidFill>
                  <a:ea typeface="Cambria Math" panose="02040503050406030204" pitchFamily="18" charset="0"/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E9FE8825-85E1-EE7A-7E8A-6A1DA89296A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775984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5EC706DF-6322-3E71-A600-443FDAAB43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1861C51-A542-3776-BF34-D8E6A9868C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2498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0E14F747-86BB-E3D0-4B97-B586209B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0F9D1AD-CE94-8B89-FB7F-DA29CF7A5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(regularization)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B860BD2C-4BA5-6401-F32F-0317DE8AB1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Một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thường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hiện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khớp</a:t>
                </a:r>
                <a:r>
                  <a:rPr lang="en-US" sz="2200" dirty="0">
                    <a:solidFill>
                      <a:schemeClr val="tx1"/>
                    </a:solidFill>
                  </a:rPr>
                  <a:t> (overfitting)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kỹ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thuật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điều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chuẩn</a:t>
                </a:r>
                <a:r>
                  <a:rPr lang="en-US" sz="2200" dirty="0">
                    <a:solidFill>
                      <a:srgbClr val="FF00FF"/>
                    </a:solidFill>
                  </a:rPr>
                  <a:t> (regularization)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thêm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vế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phạt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(penalty)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negative log likelihood (NLL):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tham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số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điều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chuẩn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(regularization parameter),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phạt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độ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phức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tạp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(complexity penalty)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phù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độ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phức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dùng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với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phân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phối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xác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suất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tiên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FF0000"/>
                    </a:solidFill>
                  </a:rPr>
                  <a:t> (prior)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mục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điều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chuẩn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func>
                        <m:func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B860BD2C-4BA5-6401-F32F-0317DE8AB1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06" r="-694" b="-5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05667B5F-F392-EB1A-6DC4-B5184BA602B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67A55B11-5731-D3AA-91D3-C4F9492FD6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171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90154D5D-D8F0-C637-91ED-10999571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864522B8-DF07-DA71-498B-C7A4EF294D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(MAP)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FF11809-9262-982B-7572-DF35E687669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func>
                        <m:func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Thay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đổi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trị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sao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phù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biểu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diễn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lại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mục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thành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2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  <m: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n-US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tiểu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hóa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mục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đại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hóa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rgbClr val="0072FF"/>
                    </a:solidFill>
                  </a:rPr>
                  <a:t>log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phân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phối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xác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suất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hậu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0072FF"/>
                    </a:solidFill>
                  </a:rPr>
                  <a:t> (log posterior)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</m:t>
                                  </m:r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| 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| 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𝐜𝐨𝐧𝐬𝐭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 err="1">
                    <a:solidFill>
                      <a:schemeClr val="tx1"/>
                    </a:solidFill>
                  </a:rPr>
                  <a:t>Công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thức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ước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gọi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Ước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lượng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hậu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nghiệm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cực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FF"/>
                    </a:solidFill>
                  </a:rPr>
                  <a:t>đại</a:t>
                </a:r>
                <a:r>
                  <a:rPr lang="en-US" sz="2400" dirty="0">
                    <a:solidFill>
                      <a:srgbClr val="FF00FF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(maximum a posteriori estimation – MAP).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AFF11809-9262-982B-7572-DF35E687669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r="-801" b="-6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FA5F8AA-7B99-5AFF-8305-56C16B4694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49CBECCE-87ED-5373-571A-01B4597833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691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B87D6C0F-F379-64A2-8FE6-B53E9638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928FB1DF-4DE7-D886-9649-FAB7BE9587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MAP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Bernoulli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D7205FB1-7227-DB5E-8994-CEF90A87BC2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2656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Nếu ta tung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xu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chỉ</a:t>
                </a:r>
                <a:r>
                  <a:rPr lang="en-US" sz="2200" dirty="0">
                    <a:solidFill>
                      <a:schemeClr val="tx1"/>
                    </a:solidFill>
                  </a:rPr>
                  <a:t> 1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quan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mặt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ngửa</a:t>
                </a:r>
                <a:r>
                  <a:rPr lang="en-US" sz="2200" dirty="0">
                    <a:solidFill>
                      <a:schemeClr val="tx1"/>
                    </a:solidFill>
                  </a:rPr>
                  <a:t> (heads).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Thì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ước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đại</a:t>
                </a:r>
                <a:r>
                  <a:rPr lang="en-US" sz="2200" dirty="0">
                    <a:solidFill>
                      <a:schemeClr val="tx1"/>
                    </a:solidFill>
                  </a:rPr>
                  <a:t> (MLE)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Để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tránh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đoan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như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hoặc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.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Beta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như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nghiệm</a:t>
                </a:r>
                <a:r>
                  <a:rPr lang="en-US" sz="2200" dirty="0">
                    <a:solidFill>
                      <a:schemeClr val="tx1"/>
                    </a:solidFill>
                  </a:rPr>
                  <a:t> (prior)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Beta</m:t>
                    </m:r>
                    <m:d>
                      <m:dPr>
                        <m:endChr m:val="|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khuyến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khích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D7205FB1-7227-DB5E-8994-CEF90A87BC2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2656883"/>
              </a:xfrm>
              <a:prstGeom prst="rect">
                <a:avLst/>
              </a:prstGeom>
              <a:blipFill>
                <a:blip r:embed="rId3"/>
                <a:stretch>
                  <a:fillRect t="-229" r="-694" b="-4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5AA3A620-A002-6709-4A0A-D980E1C7A7C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182B39D-B3BA-3EBD-4EAD-5136B2372B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34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374;p5">
                <a:extLst>
                  <a:ext uri="{FF2B5EF4-FFF2-40B4-BE49-F238E27FC236}">
                    <a16:creationId xmlns:a16="http://schemas.microsoft.com/office/drawing/2014/main" id="{451506F8-5B95-F083-D149-73418D69E4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8451" y="3401158"/>
                <a:ext cx="4967542" cy="3323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810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556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just" rtl="0">
                  <a:lnSpc>
                    <a:spcPct val="13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Nếu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đều</a:t>
                </a:r>
                <a:r>
                  <a:rPr lang="en-US" sz="2200" dirty="0">
                    <a:solidFill>
                      <a:schemeClr val="tx1"/>
                    </a:solidFill>
                  </a:rPr>
                  <a:t> (uniform distribution).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2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cùng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nhỏ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hơn</a:t>
                </a:r>
                <a:r>
                  <a:rPr lang="en-US" sz="2200" dirty="0">
                    <a:solidFill>
                      <a:schemeClr val="tx1"/>
                    </a:solidFill>
                  </a:rPr>
                  <a:t> 1,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đôi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đỉnh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(bimodal).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cùng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lớn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hơn</a:t>
                </a:r>
                <a:r>
                  <a:rPr lang="en-US" sz="2200" dirty="0">
                    <a:solidFill>
                      <a:schemeClr val="tx1"/>
                    </a:solidFill>
                  </a:rPr>
                  <a:t> 1,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đơn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đỉnh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(unimodal).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Google Shape;374;p5">
                <a:extLst>
                  <a:ext uri="{FF2B5EF4-FFF2-40B4-BE49-F238E27FC236}">
                    <a16:creationId xmlns:a16="http://schemas.microsoft.com/office/drawing/2014/main" id="{451506F8-5B95-F083-D149-73418D69E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451" y="3401158"/>
                <a:ext cx="4967542" cy="3323585"/>
              </a:xfrm>
              <a:prstGeom prst="rect">
                <a:avLst/>
              </a:prstGeom>
              <a:blipFill>
                <a:blip r:embed="rId4"/>
                <a:stretch>
                  <a:fillRect r="-15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EAD7EC1-4D24-A7F1-2E27-08BFB565EC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4522" y="3273115"/>
            <a:ext cx="3348539" cy="323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8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06320D6-060F-CCAC-B0F0-B0465304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C4833911-8188-8070-93DF-DF7D87EFB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MAP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Bernoulli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9208501-E651-23CF-AD44-D1E0144B9BF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Sử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Beta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xác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suất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nghiệm</a:t>
                </a:r>
                <a:r>
                  <a:rPr lang="en-US" sz="2200" dirty="0">
                    <a:solidFill>
                      <a:schemeClr val="tx1"/>
                    </a:solidFill>
                  </a:rPr>
                  <a:t> (prior)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Beta</m:t>
                    </m:r>
                    <m:d>
                      <m:dPr>
                        <m:endChr m:val="|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hàm</a:t>
                </a:r>
                <a:r>
                  <a:rPr lang="en-US" sz="2200" dirty="0">
                    <a:solidFill>
                      <a:srgbClr val="FF00FF"/>
                    </a:solidFill>
                  </a:rPr>
                  <a:t> log likelihood + log prior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trở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thành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  <m:func>
                            <m:func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  <m:func>
                            <m:func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sz="22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</a:br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rgbClr val="FF0000"/>
                    </a:solidFill>
                  </a:rPr>
                  <a:t>Ước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hậu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đại</a:t>
                </a:r>
                <a:r>
                  <a:rPr lang="en-US" sz="2200" dirty="0">
                    <a:solidFill>
                      <a:srgbClr val="FF0000"/>
                    </a:solidFill>
                  </a:rPr>
                  <a:t> (MAP)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Nếu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đặt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khuyến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khích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0.5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thì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Đây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gọi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kỹ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thuật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rgbClr val="0072FF"/>
                    </a:solidFill>
                  </a:rPr>
                  <a:t>add-one smoothing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quyết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đề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rgbClr val="FF0000"/>
                    </a:solidFill>
                  </a:rPr>
                  <a:t>zero count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9208501-E651-23CF-AD44-D1E0144B9BF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06" b="-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01CE2D6F-18FB-36CF-6C10-E267A018DE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5761BA8A-B5E3-B125-55C1-4D56FBF187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348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DAD4C54-5225-E5B4-19A4-997750E1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46380010-3BE6-E73D-8059-E4895F4B0D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Nghịch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thiên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đen</a:t>
            </a:r>
            <a:r>
              <a:rPr lang="en-US" dirty="0"/>
              <a:t> (black swan paradox)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C8D21049-B5F1-EB23-F7D5-8B6305A02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23" y="1380145"/>
            <a:ext cx="7789493" cy="515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07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 err="1">
                <a:solidFill>
                  <a:schemeClr val="tx1"/>
                </a:solidFill>
              </a:rPr>
              <a:t>Vấn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đề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zero count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dirty="0" err="1">
                <a:solidFill>
                  <a:schemeClr val="tx1"/>
                </a:solidFill>
              </a:rPr>
              <a:t>và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quá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khớp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(overfitting), </a:t>
            </a:r>
            <a:r>
              <a:rPr lang="en-US" sz="2200" dirty="0" err="1">
                <a:solidFill>
                  <a:schemeClr val="tx1"/>
                </a:solidFill>
              </a:rPr>
              <a:t>tương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tự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như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nghịch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lý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thiên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nga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đen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marL="5207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b="1" dirty="0" err="1">
                <a:solidFill>
                  <a:srgbClr val="FF00FF"/>
                </a:solidFill>
              </a:rPr>
              <a:t>Phép</a:t>
            </a:r>
            <a:r>
              <a:rPr lang="en-US" sz="2200" b="1" dirty="0">
                <a:solidFill>
                  <a:srgbClr val="FF00FF"/>
                </a:solidFill>
              </a:rPr>
              <a:t> </a:t>
            </a:r>
            <a:r>
              <a:rPr lang="en-US" sz="2200" b="1" dirty="0" err="1">
                <a:solidFill>
                  <a:srgbClr val="FF00FF"/>
                </a:solidFill>
              </a:rPr>
              <a:t>quy</a:t>
            </a:r>
            <a:r>
              <a:rPr lang="en-US" sz="2200" b="1" dirty="0">
                <a:solidFill>
                  <a:srgbClr val="FF00FF"/>
                </a:solidFill>
              </a:rPr>
              <a:t> </a:t>
            </a:r>
            <a:r>
              <a:rPr lang="en-US" sz="2200" b="1" dirty="0" err="1">
                <a:solidFill>
                  <a:srgbClr val="FF00FF"/>
                </a:solidFill>
              </a:rPr>
              <a:t>nạp</a:t>
            </a:r>
            <a:r>
              <a:rPr lang="en-US" sz="2200" b="1" dirty="0">
                <a:solidFill>
                  <a:srgbClr val="FF00FF"/>
                </a:solidFill>
              </a:rPr>
              <a:t> (induction)</a:t>
            </a:r>
            <a:r>
              <a:rPr lang="en-US" sz="2200" dirty="0">
                <a:solidFill>
                  <a:schemeClr val="tx1"/>
                </a:solidFill>
              </a:rPr>
              <a:t>: </a:t>
            </a:r>
            <a:r>
              <a:rPr lang="en-US" sz="2200" dirty="0" err="1">
                <a:solidFill>
                  <a:schemeClr val="tx1"/>
                </a:solidFill>
              </a:rPr>
              <a:t>làm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cách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nào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để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rút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ra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kết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luận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tổng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quát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về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tương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dựa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trên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các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quan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sát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cụ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thể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trong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quá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khứ</a:t>
            </a:r>
            <a:r>
              <a:rPr lang="en-US" sz="2200" dirty="0">
                <a:solidFill>
                  <a:schemeClr val="tx1"/>
                </a:solidFill>
              </a:rPr>
              <a:t>?</a:t>
            </a:r>
          </a:p>
          <a:p>
            <a:pPr marL="5207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 err="1">
                <a:solidFill>
                  <a:schemeClr val="tx1"/>
                </a:solidFill>
              </a:rPr>
              <a:t>Để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có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thể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dự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đoán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một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cách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hợp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lý</a:t>
            </a:r>
            <a:r>
              <a:rPr lang="en-US" sz="2200" dirty="0">
                <a:solidFill>
                  <a:schemeClr val="tx1"/>
                </a:solidFill>
              </a:rPr>
              <a:t>, ta </a:t>
            </a:r>
            <a:r>
              <a:rPr lang="en-US" sz="2200" dirty="0" err="1">
                <a:solidFill>
                  <a:schemeClr val="tx1"/>
                </a:solidFill>
              </a:rPr>
              <a:t>cần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kết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hợp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thông</a:t>
            </a:r>
            <a:r>
              <a:rPr lang="en-US" sz="2200" dirty="0">
                <a:solidFill>
                  <a:schemeClr val="tx1"/>
                </a:solidFill>
              </a:rPr>
              <a:t> tin </a:t>
            </a:r>
            <a:r>
              <a:rPr lang="en-US" sz="2200" dirty="0" err="1">
                <a:solidFill>
                  <a:schemeClr val="tx1"/>
                </a:solidFill>
              </a:rPr>
              <a:t>rút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ra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được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từ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dữ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liệu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thực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nghiệm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(empirical data) </a:t>
            </a:r>
            <a:r>
              <a:rPr lang="en-US" sz="2200" dirty="0" err="1">
                <a:solidFill>
                  <a:schemeClr val="tx1"/>
                </a:solidFill>
              </a:rPr>
              <a:t>và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accent1"/>
                </a:solidFill>
              </a:rPr>
              <a:t>tri </a:t>
            </a:r>
            <a:r>
              <a:rPr lang="en-US" sz="2200" b="1" dirty="0" err="1">
                <a:solidFill>
                  <a:schemeClr val="accent1"/>
                </a:solidFill>
              </a:rPr>
              <a:t>thức</a:t>
            </a:r>
            <a:r>
              <a:rPr lang="en-US" sz="2200" b="1" dirty="0">
                <a:solidFill>
                  <a:schemeClr val="accent1"/>
                </a:solidFill>
              </a:rPr>
              <a:t> </a:t>
            </a:r>
            <a:r>
              <a:rPr lang="en-US" sz="2200" b="1" dirty="0" err="1">
                <a:solidFill>
                  <a:schemeClr val="accent1"/>
                </a:solidFill>
              </a:rPr>
              <a:t>tiên</a:t>
            </a:r>
            <a:r>
              <a:rPr lang="en-US" sz="2200" b="1" dirty="0">
                <a:solidFill>
                  <a:schemeClr val="accent1"/>
                </a:solidFill>
              </a:rPr>
              <a:t> </a:t>
            </a:r>
            <a:r>
              <a:rPr lang="en-US" sz="2200" b="1" dirty="0" err="1">
                <a:solidFill>
                  <a:schemeClr val="accent1"/>
                </a:solidFill>
              </a:rPr>
              <a:t>nghiệm</a:t>
            </a:r>
            <a:r>
              <a:rPr lang="en-US" sz="2200" b="1" dirty="0">
                <a:solidFill>
                  <a:schemeClr val="accent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(prior knowledge).</a:t>
            </a:r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24A8E694-5F20-7EBB-FC71-230683F647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9388156-DFB2-2F46-C57F-B742E067B8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C9BBC8-06B2-7173-95A0-9A7FD2AB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92086" y="1811378"/>
            <a:ext cx="3235243" cy="323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2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D8E86B1E-9A81-F0F1-3ABF-7AE1EBC7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FD0D889D-26B0-B27B-0DD7-AF75635C6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(weight decay)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DCEE06FB-16F8-C36F-A0A7-E78F31225F4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rgbClr val="FF00FF"/>
                    </a:solidFill>
                  </a:rPr>
                  <a:t>Hồi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quy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đa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thức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nhiều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đặc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trưng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bậc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0072FF"/>
                    </a:solidFill>
                  </a:rPr>
                  <a:t>cao</a:t>
                </a:r>
                <a:r>
                  <a:rPr lang="en-US" sz="2200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rất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(flexible)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khớp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tốt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huấn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luyện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dẫn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hiện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quá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khớp</a:t>
                </a:r>
                <a:r>
                  <a:rPr lang="en-US" sz="2200" dirty="0">
                    <a:solidFill>
                      <a:srgbClr val="FF0000"/>
                    </a:solidFill>
                  </a:rPr>
                  <a:t> (overfitting)</a:t>
                </a:r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chính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độ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lớn</a:t>
                </a:r>
                <a:r>
                  <a:rPr lang="en-US" sz="2200" dirty="0">
                    <a:solidFill>
                      <a:schemeClr val="tx1"/>
                    </a:solidFill>
                  </a:rPr>
                  <a:t> (magnitude)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trọng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(regression coefficients).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chuẩn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vọng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0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xác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suất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nghiệm</a:t>
                </a:r>
                <a:r>
                  <a:rPr lang="en-US" sz="2200" dirty="0">
                    <a:solidFill>
                      <a:schemeClr val="tx1"/>
                    </a:solidFill>
                  </a:rPr>
                  <a:t> (prior)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Ước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lượng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hậu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đại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sSubSup>
                        <m:sSub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thường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không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bias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(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hoặc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).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Biểu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thức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gọi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regularization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hoặc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weight decay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càng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lớn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tham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càng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nặng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hơn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tham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tăng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(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chính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càng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rời</a:t>
                </a:r>
                <a:r>
                  <a:rPr lang="en-US" sz="2200" dirty="0">
                    <a:solidFill>
                      <a:schemeClr val="tx1"/>
                    </a:solidFill>
                  </a:rPr>
                  <a:t> xa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phân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nghiệm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vọng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0). Do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đó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trở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ít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hoạt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hơn</a:t>
                </a:r>
                <a:r>
                  <a:rPr lang="en-US" sz="2200" dirty="0">
                    <a:solidFill>
                      <a:schemeClr val="tx1"/>
                    </a:solidFill>
                  </a:rPr>
                  <a:t> (less flexible).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DCEE06FB-16F8-C36F-A0A7-E78F31225F4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06" r="-694" b="-34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C55AAA46-A1E9-FC3D-81D5-85D6D55F778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FB89A01E-B735-17D2-F584-E66A0B2B16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89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3791DAE8-4DC4-D602-06F5-055C6BB9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C3BDFA03-0C3D-FE51-775E-C6F28EC10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Ridge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F75B0DB-A93C-9082-46EE-53541A8B461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Phương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weight decay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trong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trường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hồi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tuyến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tính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(linear regression)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còn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gọi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hồi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quy</a:t>
                </a:r>
                <a:r>
                  <a:rPr lang="en-US" sz="2200" dirty="0">
                    <a:solidFill>
                      <a:srgbClr val="FF00FF"/>
                    </a:solidFill>
                  </a:rPr>
                  <a:t> ridge (ridge regression)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Xét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hồi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thức</a:t>
                </a:r>
                <a:r>
                  <a:rPr lang="en-US" sz="2200" dirty="0">
                    <a:solidFill>
                      <a:schemeClr val="tx1"/>
                    </a:solidFill>
                  </a:rPr>
                  <a:t> (polynomial regression)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như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sau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nary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Giả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đặc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trưng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bậc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cao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mặc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dù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chúng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đối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nhỏ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điểm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Áp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ước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hợp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đại</a:t>
                </a:r>
                <a:r>
                  <a:rPr lang="en-US" sz="2200" dirty="0">
                    <a:solidFill>
                      <a:schemeClr val="tx1"/>
                    </a:solidFill>
                  </a:rPr>
                  <a:t> (MLE),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chúng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được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một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bộ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tham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khớp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rất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tốt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tập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dữ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liệu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và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này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sẽ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rất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phức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tạp</a:t>
                </a:r>
                <a:r>
                  <a:rPr lang="en-US" sz="2200" dirty="0">
                    <a:solidFill>
                      <a:schemeClr val="tx1"/>
                    </a:solidFill>
                  </a:rPr>
                  <a:t>,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dẫn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hiện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tượng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quá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khớp</a:t>
                </a:r>
                <a:r>
                  <a:rPr lang="en-US" sz="2200" dirty="0">
                    <a:solidFill>
                      <a:srgbClr val="FF00FF"/>
                    </a:solidFill>
                  </a:rPr>
                  <a:t> (overfitting)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dụng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weight decay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giúp</a:t>
                </a:r>
                <a:r>
                  <a:rPr lang="en-US" sz="2200" dirty="0">
                    <a:solidFill>
                      <a:schemeClr val="tx1"/>
                    </a:solidFill>
                  </a:rPr>
                  <a:t>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thiểu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nguy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mô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hình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bị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quá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khớp</a:t>
                </a:r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F75B0DB-A93C-9082-46EE-53541A8B461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06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79489C71-B34E-35D2-5C14-C27182C864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C7E5588-5927-31E8-E3DB-C013A6909C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962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DCE6D52-4C4E-9B5F-B758-A9B4C049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FF7F688F-76CA-180B-6491-7BBE62315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Ridge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F8798946-C8C4-4D59-62EF-7836BC246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22" y="772117"/>
            <a:ext cx="11419019" cy="5763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1F2BC0C8-E0AE-1FF6-3432-0A6AEA4B534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E9E72E5-85B7-2775-5FB0-C2BBFD7913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39</a:t>
            </a:fld>
            <a:endParaRPr/>
          </a:p>
        </p:txBody>
      </p:sp>
      <p:pic>
        <p:nvPicPr>
          <p:cNvPr id="3" name="Picture 2" descr="A group of graphs with blue dots&#10;&#10;Description automatically generated with medium confidence">
            <a:extLst>
              <a:ext uri="{FF2B5EF4-FFF2-40B4-BE49-F238E27FC236}">
                <a16:creationId xmlns:a16="http://schemas.microsoft.com/office/drawing/2014/main" id="{5546189C-6300-4F62-BB1F-5CEC8753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116" y="864889"/>
            <a:ext cx="7353404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0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988C4A7-5F74-1E54-1B0A-B7E4C791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F92E855B-996E-C2F0-63AB-0FAD18AE3C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Ridge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E01CBD2B-937E-3465-709F-DCF0A51FB5B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rgbClr val="FF00FF"/>
                    </a:solidFill>
                  </a:rPr>
                  <a:t>Ước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lượng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hậu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đại</a:t>
                </a:r>
                <a:r>
                  <a:rPr lang="en-US" sz="2200" dirty="0">
                    <a:solidFill>
                      <a:srgbClr val="FF00FF"/>
                    </a:solidFill>
                  </a:rPr>
                  <a:t> (MAP)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hồi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quy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tuyến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tính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tương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ứng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việc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cực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tiểu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hóa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mục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thành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phần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phạt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sau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đây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𝑿𝒘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𝑿𝒘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b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77800" indent="0" algn="l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thể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hiện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mức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độ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điều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chuẩn</a:t>
                </a:r>
                <a:r>
                  <a:rPr lang="en-US" sz="2200" dirty="0">
                    <a:solidFill>
                      <a:schemeClr val="tx1"/>
                    </a:solidFill>
                  </a:rPr>
                  <a:t> (regularization strength).</a:t>
                </a:r>
              </a:p>
              <a:p>
                <a:pPr marL="520700" indent="-342900" algn="l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 err="1">
                    <a:solidFill>
                      <a:schemeClr val="tx1"/>
                    </a:solidFill>
                  </a:rPr>
                  <a:t>Đạo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của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hàm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mục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tiêu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trên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𝑿𝒘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 marL="520700" indent="-342900" algn="l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Do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đó</a:t>
                </a:r>
                <a:r>
                  <a:rPr lang="en-US" sz="2200" dirty="0">
                    <a:solidFill>
                      <a:schemeClr val="tx1"/>
                    </a:solidFill>
                  </a:rPr>
                  <a:t>, ta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có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ước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lượng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hậu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nghiệm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cực</a:t>
                </a:r>
                <a:r>
                  <a:rPr lang="en-US" sz="2200" dirty="0">
                    <a:solidFill>
                      <a:srgbClr val="FF00FF"/>
                    </a:solidFill>
                  </a:rPr>
                  <a:t> </a:t>
                </a:r>
                <a:r>
                  <a:rPr lang="en-US" sz="2200" dirty="0" err="1">
                    <a:solidFill>
                      <a:srgbClr val="FF00FF"/>
                    </a:solidFill>
                  </a:rPr>
                  <a:t>đại</a:t>
                </a:r>
                <a:r>
                  <a:rPr lang="en-US" sz="2200" dirty="0">
                    <a:solidFill>
                      <a:srgbClr val="FF00FF"/>
                    </a:solidFill>
                  </a:rPr>
                  <a:t> (MAP)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là</a:t>
                </a:r>
                <a:r>
                  <a:rPr lang="en-US" sz="2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7780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=</m:t>
                      </m:r>
                      <m:sSup>
                        <m:sSup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22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sz="20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E01CBD2B-937E-3465-709F-DCF0A51FB5B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772117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06" r="-6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A2D0BBC-9DB6-BA4D-A400-ECE89ABA2E9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45C1E948-6D86-4869-1D3A-D69F1C60CD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223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E579585-FEDC-CB28-7B3E-678AA019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3D588B1-5706-3F2B-3CCE-5AD957E81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6642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MLE </a:t>
            </a:r>
            <a:r>
              <a:rPr lang="en-US" dirty="0" err="1"/>
              <a:t>và</a:t>
            </a:r>
            <a:r>
              <a:rPr lang="en-US" dirty="0"/>
              <a:t> MAP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–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4E12BD6-6455-8EC3-3E3F-657F53A9BD6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2953" y="775984"/>
                <a:ext cx="11419019" cy="57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200" b="1" dirty="0">
                    <a:solidFill>
                      <a:srgbClr val="0072FF"/>
                    </a:solidFill>
                  </a:rPr>
                  <a:t>Ước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lượng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hợp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lý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cực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đại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(MLE).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Giả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sử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b="1" dirty="0">
                    <a:solidFill>
                      <a:schemeClr val="tx1"/>
                    </a:solidFill>
                  </a:rPr>
                  <a:t>Ví dụ 1: </a:t>
                </a:r>
                <a14:m>
                  <m:oMath xmlns:m="http://schemas.openxmlformats.org/officeDocument/2006/math">
                    <m:r>
                      <a:rPr lang="en-US" sz="2200" b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b="1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−1/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200" b="1" dirty="0" err="1">
                    <a:solidFill>
                      <a:srgbClr val="0072FF"/>
                    </a:solidFill>
                  </a:rPr>
                  <a:t>Ước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lượng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hậu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nghiệm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cực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</a:t>
                </a:r>
                <a:r>
                  <a:rPr lang="en-US" sz="2200" b="1" dirty="0" err="1">
                    <a:solidFill>
                      <a:srgbClr val="0072FF"/>
                    </a:solidFill>
                  </a:rPr>
                  <a:t>đại</a:t>
                </a:r>
                <a:r>
                  <a:rPr lang="en-US" sz="2200" b="1" dirty="0">
                    <a:solidFill>
                      <a:srgbClr val="0072FF"/>
                    </a:solidFill>
                  </a:rPr>
                  <a:t> (MAP)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en-US" sz="2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2.05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0.531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−0.885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−0.885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18.1416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b="1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1</a:t>
                </a:r>
                <a:r>
                  <a:rPr lang="en-US" sz="22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𝑀𝐴𝑃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2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0.531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−0.885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−0.885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18.1416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.9735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0.0442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marL="520700" indent="-34290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b="1" dirty="0" err="1">
                    <a:solidFill>
                      <a:schemeClr val="tx1"/>
                    </a:solidFill>
                  </a:rPr>
                  <a:t>Ví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b="1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2</a:t>
                </a:r>
                <a:r>
                  <a:rPr lang="en-US" sz="22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𝑀𝐴𝑃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2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0.531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−0.885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−0.885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18.1416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1.0265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−0.0442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4E12BD6-6455-8EC3-3E3F-657F53A9BD6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953" y="775984"/>
                <a:ext cx="11419019" cy="5763924"/>
              </a:xfrm>
              <a:prstGeom prst="rect">
                <a:avLst/>
              </a:prstGeom>
              <a:blipFill>
                <a:blip r:embed="rId3"/>
                <a:stretch>
                  <a:fillRect t="-16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5F2B6072-BBA8-D029-BBAD-7D3D34A9167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AED2250A-699B-DCE4-FCC1-4E01132FC0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966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5846</TotalTime>
  <Words>4918</Words>
  <Application>Microsoft Office PowerPoint</Application>
  <PresentationFormat>Widescreen</PresentationFormat>
  <Paragraphs>365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Ví dụ</vt:lpstr>
      <vt:lpstr>Ví dụ</vt:lpstr>
      <vt:lpstr>Ước lượng hợp lý cực đại</vt:lpstr>
      <vt:lpstr>Ước lượng hợp lý cực đại</vt:lpstr>
      <vt:lpstr>Ước lượng hợp lý cực đại</vt:lpstr>
      <vt:lpstr>PowerPoint Presentation</vt:lpstr>
      <vt:lpstr>MLE cho phân phối Bernoulli</vt:lpstr>
      <vt:lpstr>MLE cho phân phối Bernoulli</vt:lpstr>
      <vt:lpstr>MLE cho phân phối Bernoulli</vt:lpstr>
      <vt:lpstr>MLE cho phân phối phân loại (categorical)</vt:lpstr>
      <vt:lpstr>MLE cho phân phối phân loại (categorical)</vt:lpstr>
      <vt:lpstr>Phân phối chuẩn tắc (standard normal) N(0,1)</vt:lpstr>
      <vt:lpstr>Phân phối chuẩn (normal distribution) N(μ,σ^2)</vt:lpstr>
      <vt:lpstr>MLE cho phân phối chuẩn (Gaussian)</vt:lpstr>
      <vt:lpstr>MLE cho phân phối chuẩn (Gaussian)</vt:lpstr>
      <vt:lpstr>MLE cho phân phối chuẩn – Ví dụ</vt:lpstr>
      <vt:lpstr>PowerPoint Presentation</vt:lpstr>
      <vt:lpstr>Ví dụ</vt:lpstr>
      <vt:lpstr>MLE cho hồi quy tuyến tính</vt:lpstr>
      <vt:lpstr>MLE cho hồi quy tuyến tính</vt:lpstr>
      <vt:lpstr>MLE cho hồi quy tuyến tính</vt:lpstr>
      <vt:lpstr>MLE cho hồi quy tuyến tính</vt:lpstr>
      <vt:lpstr>MLE cho hồi quy tuyến tính</vt:lpstr>
      <vt:lpstr>MLE cho hồi quy tuyến tính</vt:lpstr>
      <vt:lpstr>PowerPoint Presentation</vt:lpstr>
      <vt:lpstr>Quá khớp (overfitting)</vt:lpstr>
      <vt:lpstr>Ví dụ: MLE cho hồi quy tuyến tính</vt:lpstr>
      <vt:lpstr>Ví dụ: MLE cho hồi quy tuyến tính</vt:lpstr>
      <vt:lpstr>Điều chuẩn (regularization)</vt:lpstr>
      <vt:lpstr>Ước lượng hậu nghiệm cực đại (MAP)</vt:lpstr>
      <vt:lpstr>Ước lượng MAP cho phân phối Bernoulli</vt:lpstr>
      <vt:lpstr>Ước lượng MAP cho phân phối Bernoulli</vt:lpstr>
      <vt:lpstr>Nghịch lý thiên nga đen (black swan paradox)</vt:lpstr>
      <vt:lpstr>Giảm giá trị trọng số (weight decay)</vt:lpstr>
      <vt:lpstr>Hồi quy Ridge</vt:lpstr>
      <vt:lpstr>Hồi quy Ridge</vt:lpstr>
      <vt:lpstr>Hồi quy Ridge</vt:lpstr>
      <vt:lpstr>MLE và MAP cho hồi quy tuyến tính – Ví dụ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Trần Hoàng Lộc</dc:creator>
  <cp:lastModifiedBy>Lương Ngọc Hoàng</cp:lastModifiedBy>
  <cp:revision>319</cp:revision>
  <dcterms:created xsi:type="dcterms:W3CDTF">2023-03-03T01:55:04Z</dcterms:created>
  <dcterms:modified xsi:type="dcterms:W3CDTF">2025-10-22T08:37:10Z</dcterms:modified>
</cp:coreProperties>
</file>